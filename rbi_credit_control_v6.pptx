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18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Relationship Id="rId13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38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Relationship Id="rId14" Type="http://schemas.openxmlformats.org/officeDocument/2006/relationships/image" Target="../media/image5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image" Target="../media/image49.png"/><Relationship Id="rId4" Type="http://schemas.openxmlformats.org/officeDocument/2006/relationships/image" Target="../media/image38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Relationship Id="rId15" Type="http://schemas.openxmlformats.org/officeDocument/2006/relationships/image" Target="../media/image4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49.png"/><Relationship Id="rId4" Type="http://schemas.openxmlformats.org/officeDocument/2006/relationships/image" Target="../media/image38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67.png"/><Relationship Id="rId13" Type="http://schemas.openxmlformats.org/officeDocument/2006/relationships/image" Target="../media/image79.png"/><Relationship Id="rId14" Type="http://schemas.openxmlformats.org/officeDocument/2006/relationships/image" Target="../media/image80.png"/><Relationship Id="rId15" Type="http://schemas.openxmlformats.org/officeDocument/2006/relationships/image" Target="../media/image47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49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Relationship Id="rId12" Type="http://schemas.openxmlformats.org/officeDocument/2006/relationships/image" Target="../media/image95.png"/><Relationship Id="rId13" Type="http://schemas.openxmlformats.org/officeDocument/2006/relationships/image" Target="../media/image96.png"/><Relationship Id="rId14" Type="http://schemas.openxmlformats.org/officeDocument/2006/relationships/image" Target="../media/image97.png"/><Relationship Id="rId15" Type="http://schemas.openxmlformats.org/officeDocument/2006/relationships/image" Target="../media/image4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49.png"/><Relationship Id="rId4" Type="http://schemas.openxmlformats.org/officeDocument/2006/relationships/image" Target="../media/image38.png"/><Relationship Id="rId5" Type="http://schemas.openxmlformats.org/officeDocument/2006/relationships/image" Target="../media/image99.png"/><Relationship Id="rId6" Type="http://schemas.openxmlformats.org/officeDocument/2006/relationships/image" Target="../media/image8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Relationship Id="rId13" Type="http://schemas.openxmlformats.org/officeDocument/2006/relationships/image" Target="../media/image106.png"/><Relationship Id="rId14" Type="http://schemas.openxmlformats.org/officeDocument/2006/relationships/image" Target="../media/image107.png"/><Relationship Id="rId15" Type="http://schemas.openxmlformats.org/officeDocument/2006/relationships/image" Target="../media/image4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Relationship Id="rId9" Type="http://schemas.openxmlformats.org/officeDocument/2006/relationships/image" Target="../media/image115.png"/><Relationship Id="rId10" Type="http://schemas.openxmlformats.org/officeDocument/2006/relationships/image" Target="../media/image116.png"/><Relationship Id="rId11" Type="http://schemas.openxmlformats.org/officeDocument/2006/relationships/image" Target="../media/image1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3.png"/><Relationship Id="rId8" Type="http://schemas.openxmlformats.org/officeDocument/2006/relationships/image" Target="../media/image124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27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1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Relationship Id="rId7" Type="http://schemas.openxmlformats.org/officeDocument/2006/relationships/image" Target="../media/image131.png"/><Relationship Id="rId8" Type="http://schemas.openxmlformats.org/officeDocument/2006/relationships/image" Target="../media/image132.png"/><Relationship Id="rId9" Type="http://schemas.openxmlformats.org/officeDocument/2006/relationships/image" Target="../media/image125.png"/><Relationship Id="rId10" Type="http://schemas.openxmlformats.org/officeDocument/2006/relationships/image" Target="../media/image133.png"/><Relationship Id="rId11" Type="http://schemas.openxmlformats.org/officeDocument/2006/relationships/image" Target="../media/image134.png"/><Relationship Id="rId12" Type="http://schemas.openxmlformats.org/officeDocument/2006/relationships/image" Target="../media/image128.png"/><Relationship Id="rId13" Type="http://schemas.openxmlformats.org/officeDocument/2006/relationships/image" Target="../media/image135.png"/><Relationship Id="rId14" Type="http://schemas.openxmlformats.org/officeDocument/2006/relationships/image" Target="../media/image136.png"/><Relationship Id="rId15" Type="http://schemas.openxmlformats.org/officeDocument/2006/relationships/image" Target="../media/image137.png"/><Relationship Id="rId16" Type="http://schemas.openxmlformats.org/officeDocument/2006/relationships/image" Target="../media/image138.png"/><Relationship Id="rId17" Type="http://schemas.openxmlformats.org/officeDocument/2006/relationships/image" Target="../media/image139.png"/><Relationship Id="rId18" Type="http://schemas.openxmlformats.org/officeDocument/2006/relationships/image" Target="../media/image140.png"/><Relationship Id="rId19" Type="http://schemas.openxmlformats.org/officeDocument/2006/relationships/image" Target="../media/image1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Relationship Id="rId5" Type="http://schemas.openxmlformats.org/officeDocument/2006/relationships/image" Target="../media/image145.png"/><Relationship Id="rId6" Type="http://schemas.openxmlformats.org/officeDocument/2006/relationships/image" Target="../media/image89.png"/><Relationship Id="rId7" Type="http://schemas.openxmlformats.org/officeDocument/2006/relationships/image" Target="../media/image146.png"/><Relationship Id="rId8" Type="http://schemas.openxmlformats.org/officeDocument/2006/relationships/image" Target="../media/image147.png"/><Relationship Id="rId9" Type="http://schemas.openxmlformats.org/officeDocument/2006/relationships/image" Target="../media/image125.png"/><Relationship Id="rId10" Type="http://schemas.openxmlformats.org/officeDocument/2006/relationships/image" Target="../media/image126.png"/><Relationship Id="rId11" Type="http://schemas.openxmlformats.org/officeDocument/2006/relationships/image" Target="../media/image148.png"/><Relationship Id="rId12" Type="http://schemas.openxmlformats.org/officeDocument/2006/relationships/image" Target="../media/image149.png"/><Relationship Id="rId13" Type="http://schemas.openxmlformats.org/officeDocument/2006/relationships/image" Target="../media/image128.png"/><Relationship Id="rId14" Type="http://schemas.openxmlformats.org/officeDocument/2006/relationships/image" Target="../media/image150.png"/><Relationship Id="rId15" Type="http://schemas.openxmlformats.org/officeDocument/2006/relationships/image" Target="../media/image151.png"/><Relationship Id="rId16" Type="http://schemas.openxmlformats.org/officeDocument/2006/relationships/image" Target="../media/image152.png"/><Relationship Id="rId17" Type="http://schemas.openxmlformats.org/officeDocument/2006/relationships/image" Target="../media/image153.png"/><Relationship Id="rId18" Type="http://schemas.openxmlformats.org/officeDocument/2006/relationships/image" Target="../media/image154.png"/><Relationship Id="rId19" Type="http://schemas.openxmlformats.org/officeDocument/2006/relationships/image" Target="../media/image15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119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Relationship Id="rId7" Type="http://schemas.openxmlformats.org/officeDocument/2006/relationships/image" Target="../media/image160.png"/><Relationship Id="rId8" Type="http://schemas.openxmlformats.org/officeDocument/2006/relationships/image" Target="../media/image161.png"/><Relationship Id="rId9" Type="http://schemas.openxmlformats.org/officeDocument/2006/relationships/image" Target="../media/image125.png"/><Relationship Id="rId10" Type="http://schemas.openxmlformats.org/officeDocument/2006/relationships/image" Target="../media/image162.png"/><Relationship Id="rId11" Type="http://schemas.openxmlformats.org/officeDocument/2006/relationships/image" Target="../media/image163.png"/><Relationship Id="rId12" Type="http://schemas.openxmlformats.org/officeDocument/2006/relationships/image" Target="../media/image14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1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0" y="-1931955"/>
            <a:ext cx="7620000" cy="7620000"/>
          </a:xfrm>
          <a:prstGeom prst="rect">
            <a:avLst/>
          </a:prstGeom>
        </p:spPr>
      </p:pic>
      <p:pic>
        <p:nvPicPr>
          <p:cNvPr id="4" name="Picture 3" descr="visual_element_slide_01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16918"/>
            <a:ext cx="12192000" cy="6253162"/>
          </a:xfrm>
          <a:prstGeom prst="rect">
            <a:avLst/>
          </a:prstGeom>
        </p:spPr>
      </p:pic>
      <p:pic>
        <p:nvPicPr>
          <p:cNvPr id="5" name="Picture 4" descr="visual_element_slide_01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5227034"/>
            <a:ext cx="4286250" cy="4286250"/>
          </a:xfrm>
          <a:prstGeom prst="rect">
            <a:avLst/>
          </a:prstGeom>
        </p:spPr>
      </p:pic>
      <p:pic>
        <p:nvPicPr>
          <p:cNvPr id="6" name="Picture 5" descr="visual_element_slide_01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952500" y="5983700"/>
            <a:ext cx="5715000" cy="5715000"/>
          </a:xfrm>
          <a:prstGeom prst="rect">
            <a:avLst/>
          </a:prstGeom>
        </p:spPr>
      </p:pic>
      <p:pic>
        <p:nvPicPr>
          <p:cNvPr id="7" name="Picture 6" descr="visual_element_slide_01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95299"/>
            <a:ext cx="781050" cy="781050"/>
          </a:xfrm>
          <a:prstGeom prst="rect">
            <a:avLst/>
          </a:prstGeom>
        </p:spPr>
      </p:pic>
      <p:pic>
        <p:nvPicPr>
          <p:cNvPr id="8" name="Picture 7" descr="visual_element_slide_01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9725" y="2576512"/>
            <a:ext cx="10496550" cy="1938337"/>
          </a:xfrm>
          <a:prstGeom prst="rect">
            <a:avLst/>
          </a:prstGeom>
        </p:spPr>
      </p:pic>
      <p:pic>
        <p:nvPicPr>
          <p:cNvPr id="9" name="Picture 8" descr="visual_element_slide_01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47146" y="5172360"/>
            <a:ext cx="3950017" cy="4514278"/>
          </a:xfrm>
          <a:prstGeom prst="rect">
            <a:avLst/>
          </a:prstGeom>
        </p:spPr>
      </p:pic>
      <p:pic>
        <p:nvPicPr>
          <p:cNvPr id="10" name="Picture 9" descr="visual_element_slide_01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47146" y="5172360"/>
            <a:ext cx="3950017" cy="4514278"/>
          </a:xfrm>
          <a:prstGeom prst="rect">
            <a:avLst/>
          </a:prstGeom>
        </p:spPr>
      </p:pic>
      <p:pic>
        <p:nvPicPr>
          <p:cNvPr id="11" name="Picture 10" descr="visual_element_slide_01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9725" y="5679281"/>
            <a:ext cx="704564" cy="47625"/>
          </a:xfrm>
          <a:prstGeom prst="rect">
            <a:avLst/>
          </a:prstGeom>
        </p:spPr>
      </p:pic>
      <p:pic>
        <p:nvPicPr>
          <p:cNvPr id="12" name="Picture 11" descr="visual_element_slide_01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8800" y="9782175"/>
            <a:ext cx="57150" cy="57150"/>
          </a:xfrm>
          <a:prstGeom prst="rect">
            <a:avLst/>
          </a:prstGeom>
        </p:spPr>
      </p:pic>
      <p:pic>
        <p:nvPicPr>
          <p:cNvPr id="13" name="Picture 12" descr="visual_element_slide_01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67750" y="9782175"/>
            <a:ext cx="57150" cy="57150"/>
          </a:xfrm>
          <a:prstGeom prst="rect">
            <a:avLst/>
          </a:prstGeom>
        </p:spPr>
      </p:pic>
      <p:pic>
        <p:nvPicPr>
          <p:cNvPr id="14" name="Picture 13" descr="visual_element_slide_01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68200" y="9782175"/>
            <a:ext cx="57150" cy="57150"/>
          </a:xfrm>
          <a:prstGeom prst="rect">
            <a:avLst/>
          </a:prstGeom>
        </p:spPr>
      </p:pic>
      <p:pic>
        <p:nvPicPr>
          <p:cNvPr id="15" name="Picture 14" descr="visual_element_slide_01_0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09725" y="6565106"/>
            <a:ext cx="3743325" cy="619125"/>
          </a:xfrm>
          <a:prstGeom prst="rect">
            <a:avLst/>
          </a:prstGeom>
        </p:spPr>
      </p:pic>
      <p:pic>
        <p:nvPicPr>
          <p:cNvPr id="16" name="Picture 15" descr="visual_element_slide_01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81650" y="6565106"/>
            <a:ext cx="3571875" cy="619125"/>
          </a:xfrm>
          <a:prstGeom prst="rect">
            <a:avLst/>
          </a:prstGeom>
        </p:spPr>
      </p:pic>
      <p:pic>
        <p:nvPicPr>
          <p:cNvPr id="17" name="Picture 16" descr="visual_element_slide_01_0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9725" y="7412831"/>
            <a:ext cx="3095625" cy="619125"/>
          </a:xfrm>
          <a:prstGeom prst="rect">
            <a:avLst/>
          </a:prstGeom>
        </p:spPr>
      </p:pic>
      <p:pic>
        <p:nvPicPr>
          <p:cNvPr id="18" name="Picture 17" descr="visual_element_slide_01_0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3950" y="7412831"/>
            <a:ext cx="3238500" cy="6191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8212" y="67627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4500" y="762000"/>
            <a:ext cx="37433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C8B4FF"/>
                </a:solidFill>
                <a:latin typeface="Inter"/>
              </a:defRPr>
            </a:pPr>
            <a:r>
              <a:t>RESERVE BANK OF INDIA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725" y="2559843"/>
            <a:ext cx="859155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3B82F6"/>
                </a:solidFill>
                <a:latin typeface="Inter"/>
              </a:defRPr>
            </a:pPr>
            <a:r>
              <a:t>Methods of Credit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725" y="3529012"/>
            <a:ext cx="6838950" cy="1104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3B82F6"/>
                </a:solidFill>
                <a:latin typeface="Inter"/>
              </a:defRPr>
            </a:pPr>
            <a:r>
              <a:t>Control by RBI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725" y="4803267"/>
            <a:ext cx="10715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C4B5FD"/>
                </a:solidFill>
                <a:latin typeface="Inter"/>
              </a:defRPr>
            </a:pPr>
            <a:r>
              <a:t>Quantitative &amp; Qualitative Instruments of Monetary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0725" y="6460902"/>
            <a:ext cx="33623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📊 Quantitative 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2650" y="6460902"/>
            <a:ext cx="31908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🎯 Qualitative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90725" y="7308627"/>
            <a:ext cx="27146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🏛 Monetary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4950" y="7308627"/>
            <a:ext cx="28575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📈 Credit Regulation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2750" y="9696450"/>
            <a:ext cx="2609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78BFA"/>
                </a:solidFill>
                <a:latin typeface="Inter"/>
              </a:defRPr>
            </a:pPr>
            <a:r>
              <a:t>MONETARY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3150" y="969645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78BFA"/>
                </a:solidFill>
                <a:latin typeface="Inter"/>
              </a:defRPr>
            </a:pPr>
            <a:r>
              <a:t>CREDIT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2100" y="9696450"/>
            <a:ext cx="30099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78BFA"/>
                </a:solidFill>
                <a:latin typeface="Inter"/>
              </a:defRPr>
            </a:pPr>
            <a:r>
              <a:t>BANKING REGULATION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782550" y="9696450"/>
            <a:ext cx="29337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78BFA"/>
                </a:solidFill>
                <a:latin typeface="Inter"/>
              </a:defRPr>
            </a:pPr>
            <a:r>
              <a:t>ECONOMIC STABILITY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46923" y="9856851"/>
            <a:ext cx="3103435" cy="1999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A78BFA"/>
                </a:solidFill>
                <a:latin typeface="Inter"/>
              </a:defRPr>
            </a:pPr>
            <a:r>
              <a:t>RBI Headquarters · Mumbai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2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0" y="-1745265"/>
            <a:ext cx="6667500" cy="6667500"/>
          </a:xfrm>
          <a:prstGeom prst="rect">
            <a:avLst/>
          </a:prstGeom>
        </p:spPr>
      </p:pic>
      <p:pic>
        <p:nvPicPr>
          <p:cNvPr id="4" name="Picture 3" descr="visual_element_slide_02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0" y="6647116"/>
            <a:ext cx="4762500" cy="4762500"/>
          </a:xfrm>
          <a:prstGeom prst="rect">
            <a:avLst/>
          </a:prstGeom>
        </p:spPr>
      </p:pic>
      <p:pic>
        <p:nvPicPr>
          <p:cNvPr id="5" name="Picture 4" descr="visual_element_slide_02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695450"/>
            <a:ext cx="8191500" cy="7115175"/>
          </a:xfrm>
          <a:prstGeom prst="rect">
            <a:avLst/>
          </a:prstGeom>
        </p:spPr>
      </p:pic>
      <p:pic>
        <p:nvPicPr>
          <p:cNvPr id="6" name="Picture 5" descr="visual_element_slide_02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0" y="1695450"/>
            <a:ext cx="8191500" cy="7115175"/>
          </a:xfrm>
          <a:prstGeom prst="rect">
            <a:avLst/>
          </a:prstGeom>
        </p:spPr>
      </p:pic>
      <p:pic>
        <p:nvPicPr>
          <p:cNvPr id="7" name="Picture 6" descr="visual_element_slide_02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2525" y="2047875"/>
            <a:ext cx="7410449" cy="685800"/>
          </a:xfrm>
          <a:prstGeom prst="rect">
            <a:avLst/>
          </a:prstGeom>
        </p:spPr>
      </p:pic>
      <p:pic>
        <p:nvPicPr>
          <p:cNvPr id="8" name="Picture 7" descr="visual_element_slide_02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025" y="2047875"/>
            <a:ext cx="7410449" cy="685800"/>
          </a:xfrm>
          <a:prstGeom prst="rect">
            <a:avLst/>
          </a:prstGeom>
        </p:spPr>
      </p:pic>
      <p:pic>
        <p:nvPicPr>
          <p:cNvPr id="9" name="Picture 8" descr="visual_element_slide_02_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2525" y="3000375"/>
            <a:ext cx="7410449" cy="723900"/>
          </a:xfrm>
          <a:prstGeom prst="rect">
            <a:avLst/>
          </a:prstGeom>
        </p:spPr>
      </p:pic>
      <p:pic>
        <p:nvPicPr>
          <p:cNvPr id="10" name="Picture 9" descr="visual_element_slide_02_0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25025" y="3000375"/>
            <a:ext cx="7410449" cy="723900"/>
          </a:xfrm>
          <a:prstGeom prst="rect">
            <a:avLst/>
          </a:prstGeom>
        </p:spPr>
      </p:pic>
      <p:pic>
        <p:nvPicPr>
          <p:cNvPr id="11" name="Picture 10" descr="visual_element_slide_02_0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" y="3838575"/>
            <a:ext cx="7410449" cy="723900"/>
          </a:xfrm>
          <a:prstGeom prst="rect">
            <a:avLst/>
          </a:prstGeom>
        </p:spPr>
      </p:pic>
      <p:pic>
        <p:nvPicPr>
          <p:cNvPr id="12" name="Picture 11" descr="visual_element_slide_02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5025" y="3838575"/>
            <a:ext cx="7410449" cy="723900"/>
          </a:xfrm>
          <a:prstGeom prst="rect">
            <a:avLst/>
          </a:prstGeom>
        </p:spPr>
      </p:pic>
      <p:pic>
        <p:nvPicPr>
          <p:cNvPr id="13" name="Picture 12" descr="visual_element_slide_02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9761" y="4676775"/>
            <a:ext cx="7410449" cy="723900"/>
          </a:xfrm>
          <a:prstGeom prst="rect">
            <a:avLst/>
          </a:prstGeom>
        </p:spPr>
      </p:pic>
      <p:pic>
        <p:nvPicPr>
          <p:cNvPr id="14" name="Picture 13" descr="visual_element_slide_02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12261" y="4676775"/>
            <a:ext cx="7410449" cy="723900"/>
          </a:xfrm>
          <a:prstGeom prst="rect">
            <a:avLst/>
          </a:prstGeom>
        </p:spPr>
      </p:pic>
      <p:pic>
        <p:nvPicPr>
          <p:cNvPr id="15" name="Picture 14" descr="visual_element_slide_02_0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6612" y="5514975"/>
            <a:ext cx="7410449" cy="723900"/>
          </a:xfrm>
          <a:prstGeom prst="rect">
            <a:avLst/>
          </a:prstGeom>
        </p:spPr>
      </p:pic>
      <p:pic>
        <p:nvPicPr>
          <p:cNvPr id="16" name="Picture 15" descr="visual_element_slide_02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9112" y="5514975"/>
            <a:ext cx="7410449" cy="723900"/>
          </a:xfrm>
          <a:prstGeom prst="rect">
            <a:avLst/>
          </a:prstGeom>
        </p:spPr>
      </p:pic>
      <p:pic>
        <p:nvPicPr>
          <p:cNvPr id="17" name="Picture 16" descr="visual_element_slide_02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6316" y="6353175"/>
            <a:ext cx="7410449" cy="723900"/>
          </a:xfrm>
          <a:prstGeom prst="rect">
            <a:avLst/>
          </a:prstGeom>
        </p:spPr>
      </p:pic>
      <p:pic>
        <p:nvPicPr>
          <p:cNvPr id="18" name="Picture 17" descr="visual_element_slide_02_0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5256" y="7191375"/>
            <a:ext cx="7410449" cy="723900"/>
          </a:xfrm>
          <a:prstGeom prst="rect">
            <a:avLst/>
          </a:prstGeom>
        </p:spPr>
      </p:pic>
      <p:pic>
        <p:nvPicPr>
          <p:cNvPr id="19" name="Picture 18" descr="visual_element_slide_02_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2550" y="3162300"/>
            <a:ext cx="400050" cy="400050"/>
          </a:xfrm>
          <a:prstGeom prst="rect">
            <a:avLst/>
          </a:prstGeom>
        </p:spPr>
      </p:pic>
      <p:pic>
        <p:nvPicPr>
          <p:cNvPr id="20" name="Picture 19" descr="visual_element_slide_02_0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5050" y="3162300"/>
            <a:ext cx="400050" cy="400050"/>
          </a:xfrm>
          <a:prstGeom prst="rect">
            <a:avLst/>
          </a:prstGeom>
        </p:spPr>
      </p:pic>
      <p:pic>
        <p:nvPicPr>
          <p:cNvPr id="21" name="Picture 20" descr="visual_element_slide_02_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2550" y="4000500"/>
            <a:ext cx="400050" cy="400050"/>
          </a:xfrm>
          <a:prstGeom prst="rect">
            <a:avLst/>
          </a:prstGeom>
        </p:spPr>
      </p:pic>
      <p:pic>
        <p:nvPicPr>
          <p:cNvPr id="22" name="Picture 21" descr="visual_element_slide_02_0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25050" y="4000500"/>
            <a:ext cx="400050" cy="400050"/>
          </a:xfrm>
          <a:prstGeom prst="rect">
            <a:avLst/>
          </a:prstGeom>
        </p:spPr>
      </p:pic>
      <p:pic>
        <p:nvPicPr>
          <p:cNvPr id="23" name="Picture 22" descr="visual_element_slide_02_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9786" y="4838700"/>
            <a:ext cx="400050" cy="400050"/>
          </a:xfrm>
          <a:prstGeom prst="rect">
            <a:avLst/>
          </a:prstGeom>
        </p:spPr>
      </p:pic>
      <p:pic>
        <p:nvPicPr>
          <p:cNvPr id="24" name="Picture 23" descr="visual_element_slide_02_0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12286" y="4838700"/>
            <a:ext cx="400050" cy="400050"/>
          </a:xfrm>
          <a:prstGeom prst="rect">
            <a:avLst/>
          </a:prstGeom>
        </p:spPr>
      </p:pic>
      <p:pic>
        <p:nvPicPr>
          <p:cNvPr id="25" name="Picture 24" descr="visual_element_slide_02_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6637" y="5676900"/>
            <a:ext cx="400050" cy="400050"/>
          </a:xfrm>
          <a:prstGeom prst="rect">
            <a:avLst/>
          </a:prstGeom>
        </p:spPr>
      </p:pic>
      <p:pic>
        <p:nvPicPr>
          <p:cNvPr id="26" name="Picture 25" descr="visual_element_slide_02_017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59137" y="5676900"/>
            <a:ext cx="400050" cy="400050"/>
          </a:xfrm>
          <a:prstGeom prst="rect">
            <a:avLst/>
          </a:prstGeom>
        </p:spPr>
      </p:pic>
      <p:pic>
        <p:nvPicPr>
          <p:cNvPr id="27" name="Picture 26" descr="visual_element_slide_02_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6341" y="6515100"/>
            <a:ext cx="400050" cy="400050"/>
          </a:xfrm>
          <a:prstGeom prst="rect">
            <a:avLst/>
          </a:prstGeom>
        </p:spPr>
      </p:pic>
      <p:pic>
        <p:nvPicPr>
          <p:cNvPr id="28" name="Picture 27" descr="visual_element_slide_02_01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5281" y="7353299"/>
            <a:ext cx="400050" cy="4000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2000" y="419100"/>
            <a:ext cx="17907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OVERVIEW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762000"/>
            <a:ext cx="84867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Credit Control Methods 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91575" y="762000"/>
            <a:ext cx="39243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60A5FA"/>
                </a:solidFill>
                <a:latin typeface="Inter"/>
              </a:defRPr>
            </a:pPr>
            <a:r>
              <a:t>At a Glance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525" y="2047875"/>
            <a:ext cx="876300" cy="485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150" b="0">
                <a:solidFill>
                  <a:srgbClr val="000000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25025" y="2047875"/>
            <a:ext cx="876300" cy="485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3150" b="0">
                <a:solidFill>
                  <a:srgbClr val="000000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19275" y="2105025"/>
            <a:ext cx="509587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C4B5FD"/>
                </a:solidFill>
                <a:latin typeface="Inter"/>
              </a:defRPr>
            </a:pPr>
            <a:r>
              <a:t>Quantitative (General)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1775" y="2105025"/>
            <a:ext cx="5095875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93C5FD"/>
                </a:solidFill>
                <a:latin typeface="Inter"/>
              </a:defRPr>
            </a:pPr>
            <a:r>
              <a:t>Qualitative (Selective) Methods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9712" y="3248025"/>
            <a:ext cx="4667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B5FD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4049" y="3214687"/>
            <a:ext cx="23812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Bank Rate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3252787"/>
            <a:ext cx="9715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82212" y="3248025"/>
            <a:ext cx="4667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96550" y="3214687"/>
            <a:ext cx="29146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Margin Requirements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306799" y="3252787"/>
            <a:ext cx="10096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662" y="408622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B5FD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4049" y="4052887"/>
            <a:ext cx="4162424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Open Market Operations (OMO)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81924" y="4090987"/>
            <a:ext cx="962024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63162" y="408622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6550" y="4052887"/>
            <a:ext cx="22955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Credit Rationing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6268700" y="4090987"/>
            <a:ext cx="1047749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0662" y="492442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B5FD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4049" y="4891087"/>
            <a:ext cx="34575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Cash Reserve Ratio (CRR)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4929187"/>
            <a:ext cx="9715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63162" y="492442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96550" y="4891087"/>
            <a:ext cx="2095499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Moral Suasion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268700" y="4929187"/>
            <a:ext cx="1047749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5900" y="5762625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B5FD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4049" y="5729287"/>
            <a:ext cx="3990974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Statutory Liquidity Ratio (SLR)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81924" y="5767387"/>
            <a:ext cx="962024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5762625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96550" y="5729287"/>
            <a:ext cx="19335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Direct Action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68700" y="5767387"/>
            <a:ext cx="1047749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90662" y="660082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B5FD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924049" y="6567487"/>
            <a:ext cx="15906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Repo Rate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0" y="6605587"/>
            <a:ext cx="9715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662" y="7439024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4B5FD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4049" y="7405687"/>
            <a:ext cx="26193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E6DCFF"/>
                </a:solidFill>
                <a:latin typeface="Inter"/>
              </a:defRPr>
            </a:pPr>
            <a:r>
              <a:t>Reverse Repo 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7443787"/>
            <a:ext cx="971550" cy="2190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A78BFA"/>
                </a:solidFill>
                <a:latin typeface="Inter"/>
              </a:defRPr>
            </a:pPr>
            <a:r>
              <a:t>Slide 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328737" y="9095898"/>
            <a:ext cx="1601152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B5FD"/>
                </a:solidFill>
                <a:latin typeface="Inter"/>
              </a:defRPr>
            </a:pPr>
            <a:r>
              <a:t>🏛 The Reserve Bank of India employs two broad categories of credit control instruments to regulate money supply, control inflation, and ensure economic stability across India's banking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3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00" y="-1742027"/>
            <a:ext cx="6667500" cy="6667500"/>
          </a:xfrm>
          <a:prstGeom prst="rect">
            <a:avLst/>
          </a:prstGeom>
        </p:spPr>
      </p:pic>
      <p:pic>
        <p:nvPicPr>
          <p:cNvPr id="4" name="Picture 3" descr="visual_element_slide_03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6700"/>
            <a:ext cx="7429500" cy="9753600"/>
          </a:xfrm>
          <a:prstGeom prst="rect">
            <a:avLst/>
          </a:prstGeom>
        </p:spPr>
      </p:pic>
      <p:pic>
        <p:nvPicPr>
          <p:cNvPr id="5" name="Picture 4" descr="visual_element_slide_02_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6649212"/>
            <a:ext cx="4762500" cy="4762500"/>
          </a:xfrm>
          <a:prstGeom prst="rect">
            <a:avLst/>
          </a:prstGeom>
        </p:spPr>
      </p:pic>
      <p:pic>
        <p:nvPicPr>
          <p:cNvPr id="6" name="Picture 5" descr="visual_element_slide_03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733425"/>
            <a:ext cx="2409825" cy="457200"/>
          </a:xfrm>
          <a:prstGeom prst="rect">
            <a:avLst/>
          </a:prstGeom>
        </p:spPr>
      </p:pic>
      <p:pic>
        <p:nvPicPr>
          <p:cNvPr id="7" name="Picture 6" descr="visual_element_slide_03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800100"/>
            <a:ext cx="9410700" cy="1047749"/>
          </a:xfrm>
          <a:prstGeom prst="rect">
            <a:avLst/>
          </a:prstGeom>
        </p:spPr>
      </p:pic>
      <p:pic>
        <p:nvPicPr>
          <p:cNvPr id="8" name="Picture 7" descr="visual_element_slide_03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000250"/>
            <a:ext cx="9410700" cy="1047749"/>
          </a:xfrm>
          <a:prstGeom prst="rect">
            <a:avLst/>
          </a:prstGeom>
        </p:spPr>
      </p:pic>
      <p:pic>
        <p:nvPicPr>
          <p:cNvPr id="9" name="Picture 8" descr="visual_element_slide_03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207924"/>
            <a:ext cx="9410700" cy="1047749"/>
          </a:xfrm>
          <a:prstGeom prst="rect">
            <a:avLst/>
          </a:prstGeom>
        </p:spPr>
      </p:pic>
      <p:pic>
        <p:nvPicPr>
          <p:cNvPr id="10" name="Picture 9" descr="visual_element_slide_03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4449318"/>
            <a:ext cx="9410700" cy="1047749"/>
          </a:xfrm>
          <a:prstGeom prst="rect">
            <a:avLst/>
          </a:prstGeom>
        </p:spPr>
      </p:pic>
      <p:pic>
        <p:nvPicPr>
          <p:cNvPr id="11" name="Picture 10" descr="visual_element_slide_03_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25" y="5295328"/>
            <a:ext cx="6419850" cy="1865090"/>
          </a:xfrm>
          <a:prstGeom prst="rect">
            <a:avLst/>
          </a:prstGeom>
        </p:spPr>
      </p:pic>
      <p:pic>
        <p:nvPicPr>
          <p:cNvPr id="12" name="Picture 11" descr="visual_element_slide_03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714238"/>
            <a:ext cx="9410700" cy="1047749"/>
          </a:xfrm>
          <a:prstGeom prst="rect">
            <a:avLst/>
          </a:prstGeom>
        </p:spPr>
      </p:pic>
      <p:pic>
        <p:nvPicPr>
          <p:cNvPr id="13" name="Picture 12" descr="visual_element_slide_03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6996684"/>
            <a:ext cx="9410700" cy="1047749"/>
          </a:xfrm>
          <a:prstGeom prst="rect">
            <a:avLst/>
          </a:prstGeom>
        </p:spPr>
      </p:pic>
      <p:pic>
        <p:nvPicPr>
          <p:cNvPr id="14" name="Picture 13" descr="visual_element_slide_03_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25" y="7331868"/>
            <a:ext cx="6419850" cy="186509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3900" y="266700"/>
            <a:ext cx="5410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A78BFA"/>
                </a:solidFill>
                <a:latin typeface="Inter"/>
              </a:defRPr>
            </a:pPr>
            <a:r>
              <a:t>QUANTITATIVE INSTRUMENTS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50" y="866775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1150" y="838200"/>
            <a:ext cx="2009774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Section 1 of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8300" y="1019174"/>
            <a:ext cx="25336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2D9FF"/>
                </a:solidFill>
                <a:latin typeface="Inter"/>
              </a:defRPr>
            </a:pPr>
            <a:r>
              <a:t>Bank Rate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0125" y="111442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11675" y="116205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C3AE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1371600"/>
            <a:ext cx="5510212" cy="942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150" b="1">
                <a:solidFill>
                  <a:srgbClr val="E2D9FF"/>
                </a:solidFill>
                <a:latin typeface="Inter"/>
              </a:defRPr>
            </a:pPr>
            <a:r>
              <a:t>Quantitative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1390650"/>
            <a:ext cx="46291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Rate at which RBI lends to commercial banks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8225" y="2191607"/>
            <a:ext cx="4071937" cy="942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150" b="1">
                <a:solidFill>
                  <a:srgbClr val="3B82F6"/>
                </a:solidFill>
                <a:latin typeface="Inter"/>
              </a:defRPr>
            </a:pPr>
            <a:r>
              <a:t>Methods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300" y="2219325"/>
            <a:ext cx="35718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2D9FF"/>
                </a:solidFill>
                <a:latin typeface="Inter"/>
              </a:defRPr>
            </a:pPr>
            <a:r>
              <a:t>Open Market Operations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20125" y="231457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211675" y="236220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C3AE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8300" y="2590800"/>
            <a:ext cx="38576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Buying/selling government securities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3383184"/>
            <a:ext cx="55626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C4B5FD"/>
                </a:solidFill>
                <a:latin typeface="Inter"/>
              </a:defRPr>
            </a:pPr>
            <a:r>
              <a:t>Quantitative (General) methods regulate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8225" y="3383184"/>
            <a:ext cx="6115050" cy="716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total volume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58300" y="3419475"/>
            <a:ext cx="37242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2D9FF"/>
                </a:solidFill>
                <a:latin typeface="Inter"/>
              </a:defRPr>
            </a:pPr>
            <a:r>
              <a:t>Cash Reserve Ratio (CRR)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20125" y="351472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211675" y="356235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C3AE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225" y="3804094"/>
            <a:ext cx="6324600" cy="113709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C4B5FD"/>
                </a:solidFill>
                <a:latin typeface="Inter"/>
              </a:defRPr>
            </a:pPr>
            <a:r>
              <a:t>of credit in the economy without distinguishing between different uses or sectors of credit.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8300" y="3790949"/>
            <a:ext cx="35147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Mandatory cash reserve with RBI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8300" y="4619625"/>
            <a:ext cx="42957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2D9FF"/>
                </a:solidFill>
                <a:latin typeface="Inter"/>
              </a:defRPr>
            </a:pPr>
            <a:r>
              <a:t>Statutory Liquidity Ratio (SLR)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20125" y="471487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211675" y="476250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C3AE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8300" y="4991100"/>
            <a:ext cx="3790949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Mandatory liquid asset maintenance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4450" y="5514403"/>
            <a:ext cx="27146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🎯 Primary Objective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58300" y="5819775"/>
            <a:ext cx="169545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2D9FF"/>
                </a:solidFill>
                <a:latin typeface="Inter"/>
              </a:defRPr>
            </a:pPr>
            <a:r>
              <a:t>Repo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4450" y="5895403"/>
            <a:ext cx="5353050" cy="9894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To control the overall money supply and credit availability — expanding it during recession and contracting it during inflation.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20125" y="591502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211675" y="596265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C3AE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58300" y="6191250"/>
            <a:ext cx="37528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Short-term borrowing rate from RBI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58300" y="7019925"/>
            <a:ext cx="28194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E2D9FF"/>
                </a:solidFill>
                <a:latin typeface="Inter"/>
              </a:defRPr>
            </a:pPr>
            <a:r>
              <a:t>Reverse Repo Rate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20125" y="7115175"/>
            <a:ext cx="809625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000000"/>
                </a:solidFill>
                <a:latin typeface="Inter"/>
              </a:defRPr>
            </a:pPr>
            <a:r>
              <a:t>↩️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211675" y="716280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7C3AE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8300" y="7391400"/>
            <a:ext cx="33909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Rate RBI pays on bank deposits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14450" y="7550943"/>
            <a:ext cx="27908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⚡ Key Characteristic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14450" y="7931943"/>
            <a:ext cx="5219700" cy="9894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These tools affect ALL sectors of the economy simultaneously and uniformly — they are non-discriminatory in nature.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4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40478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2391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04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4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90" y="1504950"/>
            <a:ext cx="9632632" cy="8477250"/>
          </a:xfrm>
          <a:prstGeom prst="rect">
            <a:avLst/>
          </a:prstGeom>
        </p:spPr>
      </p:pic>
      <p:pic>
        <p:nvPicPr>
          <p:cNvPr id="7" name="Picture 6" descr="visual_element_slide_04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5057775" cy="733425"/>
          </a:xfrm>
          <a:prstGeom prst="rect">
            <a:avLst/>
          </a:prstGeom>
        </p:spPr>
      </p:pic>
      <p:pic>
        <p:nvPicPr>
          <p:cNvPr id="8" name="Picture 7" descr="visual_element_slide_04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15128" y="1662493"/>
            <a:ext cx="5819965" cy="1970912"/>
          </a:xfrm>
          <a:prstGeom prst="rect">
            <a:avLst/>
          </a:prstGeom>
        </p:spPr>
      </p:pic>
      <p:pic>
        <p:nvPicPr>
          <p:cNvPr id="9" name="Picture 8" descr="visual_element_slide_04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4715" y="2362200"/>
            <a:ext cx="8775382" cy="2510409"/>
          </a:xfrm>
          <a:prstGeom prst="rect">
            <a:avLst/>
          </a:prstGeom>
        </p:spPr>
      </p:pic>
      <p:pic>
        <p:nvPicPr>
          <p:cNvPr id="10" name="Picture 9" descr="visual_element_slide_04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9927" y="4000500"/>
            <a:ext cx="6750367" cy="1548669"/>
          </a:xfrm>
          <a:prstGeom prst="rect">
            <a:avLst/>
          </a:prstGeom>
        </p:spPr>
      </p:pic>
      <p:pic>
        <p:nvPicPr>
          <p:cNvPr id="11" name="Picture 10" descr="visual_element_slide_04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49927" y="5758719"/>
            <a:ext cx="6750367" cy="1548669"/>
          </a:xfrm>
          <a:prstGeom prst="rect">
            <a:avLst/>
          </a:prstGeom>
        </p:spPr>
      </p:pic>
      <p:pic>
        <p:nvPicPr>
          <p:cNvPr id="12" name="Picture 11" descr="visual_element_slide_04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60028" y="2311241"/>
            <a:ext cx="5130165" cy="722661"/>
          </a:xfrm>
          <a:prstGeom prst="rect">
            <a:avLst/>
          </a:prstGeom>
        </p:spPr>
      </p:pic>
      <p:pic>
        <p:nvPicPr>
          <p:cNvPr id="13" name="Picture 12" descr="visual_element_slide_04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4715" y="5653659"/>
            <a:ext cx="123824" cy="123824"/>
          </a:xfrm>
          <a:prstGeom prst="rect">
            <a:avLst/>
          </a:prstGeom>
        </p:spPr>
      </p:pic>
      <p:pic>
        <p:nvPicPr>
          <p:cNvPr id="14" name="Picture 13" descr="visual_element_slide_04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4715" y="6537388"/>
            <a:ext cx="123824" cy="123824"/>
          </a:xfrm>
          <a:prstGeom prst="rect">
            <a:avLst/>
          </a:prstGeom>
        </p:spPr>
      </p:pic>
      <p:pic>
        <p:nvPicPr>
          <p:cNvPr id="15" name="Picture 14" descr="visual_element_slide_04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4715" y="7421213"/>
            <a:ext cx="123824" cy="123824"/>
          </a:xfrm>
          <a:prstGeom prst="rect">
            <a:avLst/>
          </a:prstGeom>
        </p:spPr>
      </p:pic>
      <p:pic>
        <p:nvPicPr>
          <p:cNvPr id="16" name="Picture 15" descr="visual_element_slide_04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54715" y="8304942"/>
            <a:ext cx="123824" cy="1238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47850" y="323850"/>
            <a:ext cx="4162424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QUANTITATIVE METHOD —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850" y="571500"/>
            <a:ext cx="55149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Bank Rate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1876425"/>
            <a:ext cx="24288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78BFA"/>
                </a:solidFill>
                <a:latin typeface="Inter"/>
              </a:defRPr>
            </a:pPr>
            <a:r>
              <a:t>📌 Also known as: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8500" y="1876425"/>
            <a:ext cx="19431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Discount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21958" y="1866899"/>
            <a:ext cx="34385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B5FD"/>
                </a:solidFill>
                <a:latin typeface="Inter"/>
              </a:defRPr>
            </a:pPr>
            <a:r>
              <a:t>Current Bank Rate (2026)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21971" y="2171700"/>
            <a:ext cx="3486150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3B82F6"/>
                </a:solidFill>
                <a:latin typeface="Inter"/>
              </a:defRPr>
            </a:pPr>
            <a:r>
              <a:t>5.50%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5900" y="2619375"/>
            <a:ext cx="18097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3028950"/>
            <a:ext cx="28384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The Bank Rate is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3028950"/>
            <a:ext cx="8162925" cy="11123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at which the Reserve Bank of India is prepared to re-discount approved bills of exchange or lend money to commercial banks against approved securities on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3350" y="3028950"/>
            <a:ext cx="20478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minimum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21921" y="3190875"/>
            <a:ext cx="40386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As per RBI Monetary Policy Committee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5900" y="3846004"/>
            <a:ext cx="8267699" cy="7038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long-term basis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62250" y="4254531"/>
            <a:ext cx="30194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without any collateral.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51857" y="4238625"/>
            <a:ext cx="32480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6EFAC"/>
                </a:solidFill>
                <a:latin typeface="Inter"/>
              </a:defRPr>
            </a:pPr>
            <a:r>
              <a:t>📈 Bank Rate Increases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51857" y="4648200"/>
            <a:ext cx="5867400" cy="6172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Borrowing becomes expensive → Credit contracts → Inflation is controlled → Money supply decreases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90625" y="5120258"/>
            <a:ext cx="21145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A78BFA"/>
                </a:solidFill>
                <a:latin typeface="Inter"/>
              </a:defRPr>
            </a:pPr>
            <a:r>
              <a:t>How It Works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6850" y="5606033"/>
            <a:ext cx="8381999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When commercial banks need funds, they approach RBI and pay the Bank Rate as interest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51857" y="5996844"/>
            <a:ext cx="3333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📉 Bank Rate Decreases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51857" y="6406419"/>
            <a:ext cx="6229350" cy="6172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Borrowing becomes cheaper → Credit expands → Economic activity stimulated → Money supply increases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6850" y="6489763"/>
            <a:ext cx="878205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Changes in Bank Rate cascade to market interest rates — affecting borrowing costs economy-wide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7373588"/>
            <a:ext cx="867727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It is aligned with the Marginal Standing Facility (MSF) rate, forming the upper bound of RBI's policy corridor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6850" y="8257317"/>
            <a:ext cx="885825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Unlike Repo Rate, Bank Rate involves no repurchase agreement — it is a direct lending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40478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2391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05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5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7850" y="571500"/>
            <a:ext cx="9639300" cy="733425"/>
          </a:xfrm>
          <a:prstGeom prst="rect">
            <a:avLst/>
          </a:prstGeom>
        </p:spPr>
      </p:pic>
      <p:pic>
        <p:nvPicPr>
          <p:cNvPr id="7" name="Picture 6" descr="visual_element_slide_05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09" y="3496532"/>
            <a:ext cx="8210549" cy="6015608"/>
          </a:xfrm>
          <a:prstGeom prst="rect">
            <a:avLst/>
          </a:prstGeom>
        </p:spPr>
      </p:pic>
      <p:pic>
        <p:nvPicPr>
          <p:cNvPr id="8" name="Picture 7" descr="visual_element_slide_05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8227" y="3496532"/>
            <a:ext cx="8210549" cy="6015608"/>
          </a:xfrm>
          <a:prstGeom prst="rect">
            <a:avLst/>
          </a:prstGeom>
        </p:spPr>
      </p:pic>
      <p:pic>
        <p:nvPicPr>
          <p:cNvPr id="9" name="Picture 8" descr="visual_element_slide_05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984" y="4306157"/>
            <a:ext cx="7543800" cy="1880139"/>
          </a:xfrm>
          <a:prstGeom prst="rect">
            <a:avLst/>
          </a:prstGeom>
        </p:spPr>
      </p:pic>
      <p:pic>
        <p:nvPicPr>
          <p:cNvPr id="10" name="Picture 9" descr="visual_element_slide_05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1602" y="4306157"/>
            <a:ext cx="7543800" cy="1354359"/>
          </a:xfrm>
          <a:prstGeom prst="rect">
            <a:avLst/>
          </a:prstGeom>
        </p:spPr>
      </p:pic>
      <p:pic>
        <p:nvPicPr>
          <p:cNvPr id="11" name="Picture 10" descr="visual_element_slide_05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1602" y="5793867"/>
            <a:ext cx="7543800" cy="1354359"/>
          </a:xfrm>
          <a:prstGeom prst="rect">
            <a:avLst/>
          </a:prstGeom>
        </p:spPr>
      </p:pic>
      <p:pic>
        <p:nvPicPr>
          <p:cNvPr id="12" name="Picture 11" descr="visual_element_slide_05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0984" y="6338697"/>
            <a:ext cx="7543800" cy="1880139"/>
          </a:xfrm>
          <a:prstGeom prst="rect">
            <a:avLst/>
          </a:prstGeom>
        </p:spPr>
      </p:pic>
      <p:pic>
        <p:nvPicPr>
          <p:cNvPr id="13" name="Picture 12" descr="visual_element_slide_05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1602" y="7281576"/>
            <a:ext cx="7543800" cy="1354359"/>
          </a:xfrm>
          <a:prstGeom prst="rect">
            <a:avLst/>
          </a:prstGeom>
        </p:spPr>
      </p:pic>
      <p:pic>
        <p:nvPicPr>
          <p:cNvPr id="14" name="Picture 13" descr="visual_element_slide_05_0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71602" y="8769286"/>
            <a:ext cx="1724025" cy="447675"/>
          </a:xfrm>
          <a:prstGeom prst="rect">
            <a:avLst/>
          </a:prstGeom>
        </p:spPr>
      </p:pic>
      <p:pic>
        <p:nvPicPr>
          <p:cNvPr id="15" name="Picture 14" descr="visual_element_slide_05_0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09927" y="8769286"/>
            <a:ext cx="1076325" cy="447675"/>
          </a:xfrm>
          <a:prstGeom prst="rect">
            <a:avLst/>
          </a:prstGeom>
        </p:spPr>
      </p:pic>
      <p:pic>
        <p:nvPicPr>
          <p:cNvPr id="16" name="Picture 15" descr="visual_element_slide_05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00552" y="8769286"/>
            <a:ext cx="828675" cy="4476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47850" y="323850"/>
            <a:ext cx="42100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QUANTITATIVE METHOD —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850" y="571500"/>
            <a:ext cx="100965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Open Market Operations (OMO)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4425" y="1781175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4425" y="2171700"/>
            <a:ext cx="4895850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DCD2FF"/>
                </a:solidFill>
                <a:latin typeface="Inter"/>
              </a:defRPr>
            </a:pPr>
            <a:r>
              <a:t>Open Market Operations refer to the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4425" y="2171700"/>
            <a:ext cx="15916275" cy="73866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2025" b="0">
                <a:solidFill>
                  <a:srgbClr val="DCD2FF"/>
                </a:solidFill>
                <a:latin typeface="Inter"/>
              </a:defRPr>
            </a:pPr>
            <a:r>
              <a:t>(bonds, treasury bills) by the RBI in the open market to regulate liquidity and money supply in the banking system on a durable basis.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9275" y="2171700"/>
            <a:ext cx="5876925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2025" b="1">
                <a:solidFill>
                  <a:srgbClr val="93C5FD"/>
                </a:solidFill>
                <a:latin typeface="Inter"/>
              </a:defRPr>
            </a:pPr>
            <a:r>
              <a:t>buying and selling of government securities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5375" y="3791807"/>
            <a:ext cx="300037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78BFA"/>
                </a:solidFill>
                <a:latin typeface="Inter"/>
              </a:defRPr>
            </a:pPr>
            <a:r>
              <a:t>Two Types of OMO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8825" y="3791807"/>
            <a:ext cx="2219325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A78BFA"/>
                </a:solidFill>
                <a:latin typeface="Inter"/>
              </a:defRPr>
            </a:pPr>
            <a:r>
              <a:t>Key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2550" y="4525232"/>
            <a:ext cx="36957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86EFAC"/>
                </a:solidFill>
                <a:latin typeface="Inter"/>
              </a:defRPr>
            </a:pPr>
            <a:r>
              <a:t>🟢 OMO Purchase (Buying)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67900" y="4487132"/>
            <a:ext cx="1619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🎯 Purpose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7900" y="4868132"/>
            <a:ext cx="7477125" cy="5723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Manage durable liquidity in the banking system and influence short-term interest rates to achieve monetary policy objectives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2550" y="4953857"/>
            <a:ext cx="7172325" cy="9676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RBI buys government securities from banks → Injects liquidity → Money supply increases → Interest rates fall → Credit expands → Stimulates economic growth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67900" y="5974842"/>
            <a:ext cx="19907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⚡ Mechanism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67900" y="6355841"/>
            <a:ext cx="7134225" cy="5723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Liquidity and interest rates are inversely proportional — more liquidity lowers rates; less liquidity raises rates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2550" y="6557772"/>
            <a:ext cx="30289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FCA5A5"/>
                </a:solidFill>
                <a:latin typeface="Inter"/>
              </a:defRPr>
            </a:pPr>
            <a:r>
              <a:t>🔴 OMO Sale (Selling)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2550" y="6986397"/>
            <a:ext cx="7410449" cy="9676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RBI sells government securities to banks → Absorbs liquidity → Money supply decreases → Interest rates rise → Credit contracts → Controls inflation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67900" y="7462551"/>
            <a:ext cx="26574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📊 Instruments 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67900" y="7843551"/>
            <a:ext cx="7410449" cy="5723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Government of India dated securities, Treasury Bills, State Development Loans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67900" y="8874061"/>
            <a:ext cx="16668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G-Sec Bonds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06225" y="8874061"/>
            <a:ext cx="1019174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T-Bills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96850" y="8874061"/>
            <a:ext cx="7715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SDL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24000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53250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06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71437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6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06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238125"/>
            <a:ext cx="7810499" cy="733425"/>
          </a:xfrm>
          <a:prstGeom prst="rect">
            <a:avLst/>
          </a:prstGeom>
        </p:spPr>
      </p:pic>
      <p:pic>
        <p:nvPicPr>
          <p:cNvPr id="8" name="Picture 7" descr="visual_element_slide_06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" y="1857375"/>
            <a:ext cx="8818530" cy="2044731"/>
          </a:xfrm>
          <a:prstGeom prst="rect">
            <a:avLst/>
          </a:prstGeom>
        </p:spPr>
      </p:pic>
      <p:pic>
        <p:nvPicPr>
          <p:cNvPr id="9" name="Picture 8" descr="visual_element_slide_06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36291" y="1830705"/>
            <a:ext cx="4748403" cy="1520189"/>
          </a:xfrm>
          <a:prstGeom prst="rect">
            <a:avLst/>
          </a:prstGeom>
        </p:spPr>
      </p:pic>
      <p:pic>
        <p:nvPicPr>
          <p:cNvPr id="10" name="Picture 9" descr="visual_element_slide_06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4111656"/>
            <a:ext cx="8818530" cy="1443894"/>
          </a:xfrm>
          <a:prstGeom prst="rect">
            <a:avLst/>
          </a:prstGeom>
        </p:spPr>
      </p:pic>
      <p:pic>
        <p:nvPicPr>
          <p:cNvPr id="11" name="Picture 10" descr="visual_element_slide_06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18830" y="6156769"/>
            <a:ext cx="6783419" cy="1451514"/>
          </a:xfrm>
          <a:prstGeom prst="rect">
            <a:avLst/>
          </a:prstGeom>
        </p:spPr>
      </p:pic>
      <p:pic>
        <p:nvPicPr>
          <p:cNvPr id="12" name="Picture 11" descr="visual_element_slide_06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89656" y="2317432"/>
            <a:ext cx="4241673" cy="586740"/>
          </a:xfrm>
          <a:prstGeom prst="rect">
            <a:avLst/>
          </a:prstGeom>
        </p:spPr>
      </p:pic>
      <p:pic>
        <p:nvPicPr>
          <p:cNvPr id="13" name="Picture 12" descr="visual_element_slide_06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8830" y="3867150"/>
            <a:ext cx="3315557" cy="2099119"/>
          </a:xfrm>
          <a:prstGeom prst="rect">
            <a:avLst/>
          </a:prstGeom>
        </p:spPr>
      </p:pic>
      <p:pic>
        <p:nvPicPr>
          <p:cNvPr id="14" name="Picture 13" descr="visual_element_slide_06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686788" y="3867150"/>
            <a:ext cx="3315557" cy="2099119"/>
          </a:xfrm>
          <a:prstGeom prst="rect">
            <a:avLst/>
          </a:prstGeom>
        </p:spPr>
      </p:pic>
      <p:pic>
        <p:nvPicPr>
          <p:cNvPr id="15" name="Picture 14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5850921"/>
            <a:ext cx="123824" cy="123824"/>
          </a:xfrm>
          <a:prstGeom prst="rect">
            <a:avLst/>
          </a:prstGeom>
        </p:spPr>
      </p:pic>
      <p:pic>
        <p:nvPicPr>
          <p:cNvPr id="16" name="Picture 15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6349936"/>
            <a:ext cx="123824" cy="123824"/>
          </a:xfrm>
          <a:prstGeom prst="rect">
            <a:avLst/>
          </a:prstGeom>
        </p:spPr>
      </p:pic>
      <p:pic>
        <p:nvPicPr>
          <p:cNvPr id="17" name="Picture 16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6848951"/>
            <a:ext cx="123824" cy="123824"/>
          </a:xfrm>
          <a:prstGeom prst="rect">
            <a:avLst/>
          </a:prstGeom>
        </p:spPr>
      </p:pic>
      <p:pic>
        <p:nvPicPr>
          <p:cNvPr id="18" name="Picture 17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6275" y="7347966"/>
            <a:ext cx="123824" cy="1238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47850" y="323850"/>
            <a:ext cx="42100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QUANTITATIVE METHOD —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47850" y="571500"/>
            <a:ext cx="8267699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Cash Reserve Ratio (CRR)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38867" y="1828800"/>
            <a:ext cx="2571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B5FD"/>
                </a:solidFill>
                <a:latin typeface="Inter"/>
              </a:defRPr>
            </a:pPr>
            <a:r>
              <a:t>Current CRR (2026)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72155" y="2114550"/>
            <a:ext cx="3552825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3B82F6"/>
                </a:solidFill>
                <a:latin typeface="Inter"/>
              </a:defRPr>
            </a:pPr>
            <a:r>
              <a:t>4.00%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2486025"/>
            <a:ext cx="16478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CRR is the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2486025"/>
            <a:ext cx="8353424" cy="11123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that every scheduled commercial bank must maintain as cash with the Reserve Bank of India. Banks 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5575" y="2486025"/>
            <a:ext cx="49434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minimum percentage of total deposits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10192" y="3114675"/>
            <a:ext cx="42291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Of Net Demand &amp; Time Liabilities (NDTL)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700" y="3303079"/>
            <a:ext cx="16764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no interest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53100" y="3303079"/>
            <a:ext cx="22479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on this reserve.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0705" y="408622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86EFAC"/>
                </a:solidFill>
                <a:latin typeface="Inter"/>
              </a:defRPr>
            </a:pPr>
            <a:r>
              <a:t>📈 CRR 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8663" y="408622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📉 CRR 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9700" y="4311681"/>
            <a:ext cx="12192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Formula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0705" y="4486275"/>
            <a:ext cx="3067050" cy="12218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Banks hold more cash → Less funds for lending → Credit contracts → Inflation controlled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8663" y="4486275"/>
            <a:ext cx="2905125" cy="12218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Banks hold less cash → More funds for lending → Credit expands → Growth stimulated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9700" y="4702206"/>
            <a:ext cx="8663463" cy="59817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Courier New"/>
              </a:defRPr>
            </a:pPr>
            <a:r>
              <a:t>CRR = (Cash Reserve with RBI ÷ Net Demand &amp; Time Liabilities) × 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8750" y="5803296"/>
            <a:ext cx="79629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Maintained as cash — banks cannot use this for lending or investment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750" y="6302311"/>
            <a:ext cx="75057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Directly controls the credit creation capacity of commercial banks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99755" y="6394894"/>
            <a:ext cx="7143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99755" y="6394894"/>
            <a:ext cx="6124575" cy="9676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A 1% change in CRR can inject or absorb approximately ₹1.5 lakh crore from the banking system, making it one of the most powerful monetary tools.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3130" y="6394894"/>
            <a:ext cx="13906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Key Fact: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8750" y="6801326"/>
            <a:ext cx="83915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RBI can change CRR without prior notice — a powerful and immediate tool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28750" y="7300341"/>
            <a:ext cx="82581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Higher CRR = less money available for lending = tighter credit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93246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05053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07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7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07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9267825" cy="733425"/>
          </a:xfrm>
          <a:prstGeom prst="rect">
            <a:avLst/>
          </a:prstGeom>
        </p:spPr>
      </p:pic>
      <p:pic>
        <p:nvPicPr>
          <p:cNvPr id="8" name="Picture 7" descr="visual_element_slide_07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580" y="1504950"/>
            <a:ext cx="6783419" cy="2171700"/>
          </a:xfrm>
          <a:prstGeom prst="rect">
            <a:avLst/>
          </a:prstGeom>
        </p:spPr>
      </p:pic>
      <p:pic>
        <p:nvPicPr>
          <p:cNvPr id="9" name="Picture 8" descr="visual_element_slide_07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525" y="1857375"/>
            <a:ext cx="8818530" cy="2453259"/>
          </a:xfrm>
          <a:prstGeom prst="rect">
            <a:avLst/>
          </a:prstGeom>
        </p:spPr>
      </p:pic>
      <p:pic>
        <p:nvPicPr>
          <p:cNvPr id="10" name="Picture 9" descr="visual_element_slide_07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2580" y="3867150"/>
            <a:ext cx="6783419" cy="2762250"/>
          </a:xfrm>
          <a:prstGeom prst="rect">
            <a:avLst/>
          </a:prstGeom>
        </p:spPr>
      </p:pic>
      <p:pic>
        <p:nvPicPr>
          <p:cNvPr id="11" name="Picture 10" descr="visual_element_slide_07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2525" y="4520184"/>
            <a:ext cx="8818530" cy="1714500"/>
          </a:xfrm>
          <a:prstGeom prst="rect">
            <a:avLst/>
          </a:prstGeom>
        </p:spPr>
      </p:pic>
      <p:pic>
        <p:nvPicPr>
          <p:cNvPr id="12" name="Picture 11" descr="visual_element_slide_06_00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2580" y="6819900"/>
            <a:ext cx="6783419" cy="1451514"/>
          </a:xfrm>
          <a:prstGeom prst="rect">
            <a:avLst/>
          </a:prstGeom>
        </p:spPr>
      </p:pic>
      <p:pic>
        <p:nvPicPr>
          <p:cNvPr id="13" name="Picture 12" descr="visual_element_slide_07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04530" y="2200275"/>
            <a:ext cx="6059519" cy="838200"/>
          </a:xfrm>
          <a:prstGeom prst="rect">
            <a:avLst/>
          </a:prstGeom>
        </p:spPr>
      </p:pic>
      <p:pic>
        <p:nvPicPr>
          <p:cNvPr id="14" name="Picture 13" descr="visual_element_slide_07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8805" y="4533900"/>
            <a:ext cx="6230969" cy="466724"/>
          </a:xfrm>
          <a:prstGeom prst="rect">
            <a:avLst/>
          </a:prstGeom>
        </p:spPr>
      </p:pic>
      <p:pic>
        <p:nvPicPr>
          <p:cNvPr id="15" name="Picture 14" descr="visual_element_slide_07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8805" y="5000625"/>
            <a:ext cx="6230969" cy="466724"/>
          </a:xfrm>
          <a:prstGeom prst="rect">
            <a:avLst/>
          </a:prstGeom>
        </p:spPr>
      </p:pic>
      <p:pic>
        <p:nvPicPr>
          <p:cNvPr id="16" name="Picture 15" descr="visual_element_slide_07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18805" y="5467350"/>
            <a:ext cx="6230969" cy="466724"/>
          </a:xfrm>
          <a:prstGeom prst="rect">
            <a:avLst/>
          </a:prstGeom>
        </p:spPr>
      </p:pic>
      <p:pic>
        <p:nvPicPr>
          <p:cNvPr id="17" name="Picture 16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525" y="6510909"/>
            <a:ext cx="123824" cy="123824"/>
          </a:xfrm>
          <a:prstGeom prst="rect">
            <a:avLst/>
          </a:prstGeom>
        </p:spPr>
      </p:pic>
      <p:pic>
        <p:nvPicPr>
          <p:cNvPr id="18" name="Picture 17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525" y="7009923"/>
            <a:ext cx="123824" cy="123824"/>
          </a:xfrm>
          <a:prstGeom prst="rect">
            <a:avLst/>
          </a:prstGeom>
        </p:spPr>
      </p:pic>
      <p:pic>
        <p:nvPicPr>
          <p:cNvPr id="19" name="Picture 18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525" y="7508938"/>
            <a:ext cx="123824" cy="123824"/>
          </a:xfrm>
          <a:prstGeom prst="rect">
            <a:avLst/>
          </a:prstGeom>
        </p:spPr>
      </p:pic>
      <p:pic>
        <p:nvPicPr>
          <p:cNvPr id="20" name="Picture 19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52525" y="8007953"/>
            <a:ext cx="123824" cy="123824"/>
          </a:xfrm>
          <a:prstGeom prst="rect">
            <a:avLst/>
          </a:prstGeom>
        </p:spPr>
      </p:pic>
      <p:pic>
        <p:nvPicPr>
          <p:cNvPr id="21" name="Picture 20" descr="visual_element_slide_07_018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90650" y="5063108"/>
            <a:ext cx="1238250" cy="447675"/>
          </a:xfrm>
          <a:prstGeom prst="rect">
            <a:avLst/>
          </a:prstGeom>
        </p:spPr>
      </p:pic>
      <p:pic>
        <p:nvPicPr>
          <p:cNvPr id="22" name="Picture 21" descr="visual_element_slide_07_019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24150" y="5063108"/>
            <a:ext cx="1190625" cy="447675"/>
          </a:xfrm>
          <a:prstGeom prst="rect">
            <a:avLst/>
          </a:prstGeom>
        </p:spPr>
      </p:pic>
      <p:pic>
        <p:nvPicPr>
          <p:cNvPr id="23" name="Picture 22" descr="visual_element_slide_07_020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010025" y="5063108"/>
            <a:ext cx="2324100" cy="447675"/>
          </a:xfrm>
          <a:prstGeom prst="rect">
            <a:avLst/>
          </a:prstGeom>
        </p:spPr>
      </p:pic>
      <p:pic>
        <p:nvPicPr>
          <p:cNvPr id="24" name="Picture 23" descr="visual_element_slide_07_02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9375" y="5063108"/>
            <a:ext cx="2085975" cy="447675"/>
          </a:xfrm>
          <a:prstGeom prst="rect">
            <a:avLst/>
          </a:prstGeom>
        </p:spPr>
      </p:pic>
      <p:pic>
        <p:nvPicPr>
          <p:cNvPr id="25" name="Picture 24" descr="visual_element_slide_07_022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90650" y="5606033"/>
            <a:ext cx="2381250" cy="4476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847850" y="323850"/>
            <a:ext cx="42195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QUANTITATIVE METHOD —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850" y="571500"/>
            <a:ext cx="972502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Statutory Liquidity Ratio (SLR)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57917" y="1828800"/>
            <a:ext cx="25336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3C5FD"/>
                </a:solidFill>
                <a:latin typeface="Inter"/>
              </a:defRPr>
            </a:pPr>
            <a:r>
              <a:t>Current SLR (2026)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486417" y="2114550"/>
            <a:ext cx="3924300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600" b="1">
                <a:solidFill>
                  <a:srgbClr val="3B82F6"/>
                </a:solidFill>
                <a:latin typeface="Inter"/>
              </a:defRPr>
            </a:pPr>
            <a:r>
              <a:t>18.00%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" y="2486025"/>
            <a:ext cx="16097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SLR is the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8750" y="2486025"/>
            <a:ext cx="8372475" cy="7038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minimum percentage of Net Demand and Time Liabilities (NDTL)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8750" y="2894552"/>
            <a:ext cx="8591550" cy="11123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that every scheduled commercial bank must maintain in the form of liquid assets — cash, gold, or approved government securities — before providing credit to customers.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10192" y="3114675"/>
            <a:ext cx="42291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93C5FD"/>
                </a:solidFill>
                <a:latin typeface="Inter"/>
              </a:defRPr>
            </a:pPr>
            <a:r>
              <a:t>Of Net Demand &amp; Time Liabilities (NDTL)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805" y="4105274"/>
            <a:ext cx="41148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📊 CRR vs SLR — Key Differences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18805" y="4638675"/>
            <a:ext cx="1333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Held with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85705" y="4629150"/>
            <a:ext cx="24384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DCD2FF"/>
                </a:solidFill>
                <a:latin typeface="Inter"/>
              </a:defRPr>
            </a:pPr>
            <a:r>
              <a:t>Bank itself (not RBI)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90650" y="4701159"/>
            <a:ext cx="28860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✅ Eligible Liquid Assets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18805" y="5105400"/>
            <a:ext cx="14763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Asset type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85705" y="5095875"/>
            <a:ext cx="23241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DCD2FF"/>
                </a:solidFill>
                <a:latin typeface="Inter"/>
              </a:defRPr>
            </a:pPr>
            <a:r>
              <a:t>Cash, Gold, G-Sec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9725" y="5167884"/>
            <a:ext cx="11811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💵 Cash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43225" y="5167884"/>
            <a:ext cx="11334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🥇 Gold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29100" y="5167884"/>
            <a:ext cx="22669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📜 Govt. Securities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8450" y="5167884"/>
            <a:ext cx="20288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🏛 Treasury Bills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805" y="5572125"/>
            <a:ext cx="19335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Interest earned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85705" y="5562600"/>
            <a:ext cx="198119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DCD2FF"/>
                </a:solidFill>
                <a:latin typeface="Inter"/>
              </a:defRPr>
            </a:pPr>
            <a:r>
              <a:t>Yes (on G-Sec)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9725" y="5710809"/>
            <a:ext cx="23241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📊 State Dev. Loans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8805" y="6038850"/>
            <a:ext cx="16192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Current 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85705" y="6029325"/>
            <a:ext cx="17430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DCD2FF"/>
                </a:solidFill>
                <a:latin typeface="Inter"/>
              </a:defRPr>
            </a:pPr>
            <a:r>
              <a:t>18% of NDTL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8750" y="6463283"/>
            <a:ext cx="88392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Unlike CRR, SLR assets can be held by the bank itself (not deposited with RBI)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28750" y="6962298"/>
            <a:ext cx="78200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Banks earn returns on SLR assets (especially government securities)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99755" y="7058025"/>
            <a:ext cx="7143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99755" y="7058025"/>
            <a:ext cx="6648450" cy="9676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SLR not only controls credit but also ensures banks maintain adequate liquidity to meet depositor demands, safeguarding financial system stability.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33130" y="7058025"/>
            <a:ext cx="18764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Dual Purpose: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8750" y="7461313"/>
            <a:ext cx="8296274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Serves dual purpose: credit control AND ensuring bank solvency/stability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8750" y="7960328"/>
            <a:ext cx="862012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Higher SLR forces banks to invest more in govt. securities, reducing lending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43145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08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0581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08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8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760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08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3819524" cy="733425"/>
          </a:xfrm>
          <a:prstGeom prst="rect">
            <a:avLst/>
          </a:prstGeom>
        </p:spPr>
      </p:pic>
      <p:pic>
        <p:nvPicPr>
          <p:cNvPr id="8" name="Picture 7" descr="visual_element_slide_08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8057" y="1607820"/>
            <a:ext cx="6095619" cy="1823085"/>
          </a:xfrm>
          <a:prstGeom prst="rect">
            <a:avLst/>
          </a:prstGeom>
        </p:spPr>
      </p:pic>
      <p:pic>
        <p:nvPicPr>
          <p:cNvPr id="9" name="Picture 8" descr="visual_element_slide_08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9285" y="2324100"/>
            <a:ext cx="8818530" cy="2453259"/>
          </a:xfrm>
          <a:prstGeom prst="rect">
            <a:avLst/>
          </a:prstGeom>
        </p:spPr>
      </p:pic>
      <p:pic>
        <p:nvPicPr>
          <p:cNvPr id="10" name="Picture 9" descr="visual_element_slide_08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84109" y="3705224"/>
            <a:ext cx="6783419" cy="1774317"/>
          </a:xfrm>
          <a:prstGeom prst="rect">
            <a:avLst/>
          </a:prstGeom>
        </p:spPr>
      </p:pic>
      <p:pic>
        <p:nvPicPr>
          <p:cNvPr id="11" name="Picture 10" descr="visual_element_slide_08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9285" y="4967859"/>
            <a:ext cx="8818530" cy="1813464"/>
          </a:xfrm>
          <a:prstGeom prst="rect">
            <a:avLst/>
          </a:prstGeom>
        </p:spPr>
      </p:pic>
      <p:pic>
        <p:nvPicPr>
          <p:cNvPr id="12" name="Picture 11" descr="visual_element_slide_08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84109" y="5650992"/>
            <a:ext cx="6783419" cy="1774317"/>
          </a:xfrm>
          <a:prstGeom prst="rect">
            <a:avLst/>
          </a:prstGeom>
        </p:spPr>
      </p:pic>
      <p:pic>
        <p:nvPicPr>
          <p:cNvPr id="13" name="Picture 12" descr="visual_element_slide_08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84109" y="7596758"/>
            <a:ext cx="6783419" cy="1367409"/>
          </a:xfrm>
          <a:prstGeom prst="rect">
            <a:avLst/>
          </a:prstGeom>
        </p:spPr>
      </p:pic>
      <p:pic>
        <p:nvPicPr>
          <p:cNvPr id="14" name="Picture 13" descr="visual_element_slide_08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53241" y="2181225"/>
            <a:ext cx="5445156" cy="718947"/>
          </a:xfrm>
          <a:prstGeom prst="rect">
            <a:avLst/>
          </a:prstGeom>
        </p:spPr>
      </p:pic>
      <p:pic>
        <p:nvPicPr>
          <p:cNvPr id="15" name="Picture 14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9285" y="7057548"/>
            <a:ext cx="123824" cy="123824"/>
          </a:xfrm>
          <a:prstGeom prst="rect">
            <a:avLst/>
          </a:prstGeom>
        </p:spPr>
      </p:pic>
      <p:pic>
        <p:nvPicPr>
          <p:cNvPr id="16" name="Picture 15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9285" y="7556563"/>
            <a:ext cx="123824" cy="123824"/>
          </a:xfrm>
          <a:prstGeom prst="rect">
            <a:avLst/>
          </a:prstGeom>
        </p:spPr>
      </p:pic>
      <p:pic>
        <p:nvPicPr>
          <p:cNvPr id="17" name="Picture 16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9285" y="8421338"/>
            <a:ext cx="123824" cy="1238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47850" y="323850"/>
            <a:ext cx="42005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QUANTITATIVE METHOD — 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47850" y="571500"/>
            <a:ext cx="35052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Repo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715017" y="1790700"/>
            <a:ext cx="32194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4B5FD"/>
                </a:solidFill>
                <a:latin typeface="Inter"/>
              </a:defRPr>
            </a:pPr>
            <a:r>
              <a:t>Current Repo Rate (2026)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1857375"/>
            <a:ext cx="18288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78BFA"/>
                </a:solidFill>
                <a:latin typeface="Inter"/>
              </a:defRPr>
            </a:pPr>
            <a:r>
              <a:t>📌 Full Form: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0325" y="1857375"/>
            <a:ext cx="35528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Repurchase Agreement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5505" y="2057400"/>
            <a:ext cx="3257550" cy="96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>
                <a:solidFill>
                  <a:srgbClr val="3B82F6"/>
                </a:solidFill>
                <a:latin typeface="Inter"/>
              </a:defRPr>
            </a:pPr>
            <a:r>
              <a:t>5.25%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2562225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8750" y="2952750"/>
            <a:ext cx="23526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Repo Rate is the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" y="2952750"/>
            <a:ext cx="8629650" cy="11123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to commercial banks against the collateral of government securities, with an agreement to repurchase them at a predetermined price. It is 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00425" y="2952750"/>
            <a:ext cx="57054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rate at which the RBI lends short-term funds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410217" y="3019425"/>
            <a:ext cx="38290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A78BFA"/>
                </a:solidFill>
                <a:latin typeface="Inter"/>
              </a:defRPr>
            </a:pPr>
            <a:r>
              <a:t>As per MPC Review — February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99755" y="3924300"/>
            <a:ext cx="3219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86EFAC"/>
                </a:solidFill>
                <a:latin typeface="Inter"/>
              </a:defRPr>
            </a:pPr>
            <a:r>
              <a:t>📈 Repo Rate ↑ (Hawkish)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8750" y="4178331"/>
            <a:ext cx="21431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key policy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90875" y="4178331"/>
            <a:ext cx="165735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of the RBI.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99755" y="4324350"/>
            <a:ext cx="6419850" cy="8971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Borrowing from RBI becomes costly → Banks raise lending rates → Loans become expensive → Demand falls → Inflation controlled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9700" y="5167884"/>
            <a:ext cx="21431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⚙️ How It 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09700" y="5567934"/>
            <a:ext cx="8620125" cy="9676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Banks sell government securities to RBI and receive funds → They agree to buy back the securities at a future date → The difference in price represents the Repo Rate interest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99755" y="5870066"/>
            <a:ext cx="3028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📉 Repo Rate ↓ (Dovish)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99755" y="6270116"/>
            <a:ext cx="6429375" cy="89715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Borrowing from RBI becomes cheaper → Banks lower lending rates → Loans become affordable → Demand rises → Growth stimulated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750" y="7009923"/>
            <a:ext cx="26003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Repo Rate is always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48075" y="7009923"/>
            <a:ext cx="11049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higher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1975" y="7009923"/>
            <a:ext cx="30194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than Reverse Repo Rate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8750" y="7508938"/>
            <a:ext cx="12382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It is the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8750" y="7508938"/>
            <a:ext cx="881062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— changes directly affect home loans, car loans, and all EMIs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7508938"/>
            <a:ext cx="21526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benchmark 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80705" y="7815833"/>
            <a:ext cx="6953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🏛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80705" y="7815833"/>
            <a:ext cx="6677025" cy="9180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of RBI's interest rate corridor, with MSF (5.50%) as the ceiling and SDF (5.00%) as the floor.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95030" y="7815833"/>
            <a:ext cx="19907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Policy Corridor: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04755" y="7815833"/>
            <a:ext cx="24860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Repo Rate forms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09780" y="7815833"/>
            <a:ext cx="10287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middle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28750" y="8373713"/>
            <a:ext cx="84391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Reviewed by the Monetary Policy Committee (MPC) at least 4 times a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05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35334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0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5725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09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8621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8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890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09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65308"/>
            <a:ext cx="5676900" cy="733425"/>
          </a:xfrm>
          <a:prstGeom prst="rect">
            <a:avLst/>
          </a:prstGeom>
        </p:spPr>
      </p:pic>
      <p:pic>
        <p:nvPicPr>
          <p:cNvPr id="8" name="Picture 7" descr="visual_element_slide_09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96223" y="1739455"/>
            <a:ext cx="5215413" cy="1559814"/>
          </a:xfrm>
          <a:prstGeom prst="rect">
            <a:avLst/>
          </a:prstGeom>
        </p:spPr>
      </p:pic>
      <p:pic>
        <p:nvPicPr>
          <p:cNvPr id="9" name="Picture 8" descr="visual_element_slide_09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415" y="1857375"/>
            <a:ext cx="8818530" cy="2044731"/>
          </a:xfrm>
          <a:prstGeom prst="rect">
            <a:avLst/>
          </a:prstGeom>
        </p:spPr>
      </p:pic>
      <p:pic>
        <p:nvPicPr>
          <p:cNvPr id="10" name="Picture 9" descr="visual_element_slide_09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12221" y="3705224"/>
            <a:ext cx="6783419" cy="2590800"/>
          </a:xfrm>
          <a:prstGeom prst="rect">
            <a:avLst/>
          </a:prstGeom>
        </p:spPr>
      </p:pic>
      <p:pic>
        <p:nvPicPr>
          <p:cNvPr id="11" name="Picture 10" descr="visual_element_slide_09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415" y="4092606"/>
            <a:ext cx="8818530" cy="1813464"/>
          </a:xfrm>
          <a:prstGeom prst="rect">
            <a:avLst/>
          </a:prstGeom>
        </p:spPr>
      </p:pic>
      <p:pic>
        <p:nvPicPr>
          <p:cNvPr id="12" name="Picture 11" descr="visual_element_slide_09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12221" y="6467475"/>
            <a:ext cx="6783419" cy="1767459"/>
          </a:xfrm>
          <a:prstGeom prst="rect">
            <a:avLst/>
          </a:prstGeom>
        </p:spPr>
      </p:pic>
      <p:pic>
        <p:nvPicPr>
          <p:cNvPr id="13" name="Picture 12" descr="visual_element_slide_09_01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74544" y="2230088"/>
            <a:ext cx="4658868" cy="615124"/>
          </a:xfrm>
          <a:prstGeom prst="rect">
            <a:avLst/>
          </a:prstGeom>
        </p:spPr>
      </p:pic>
      <p:pic>
        <p:nvPicPr>
          <p:cNvPr id="14" name="Picture 13" descr="visual_element_slide_09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69396" y="4333875"/>
            <a:ext cx="6269069" cy="438150"/>
          </a:xfrm>
          <a:prstGeom prst="rect">
            <a:avLst/>
          </a:prstGeom>
        </p:spPr>
      </p:pic>
      <p:pic>
        <p:nvPicPr>
          <p:cNvPr id="15" name="Picture 14" descr="visual_element_slide_09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69396" y="4772025"/>
            <a:ext cx="6269069" cy="438150"/>
          </a:xfrm>
          <a:prstGeom prst="rect">
            <a:avLst/>
          </a:prstGeom>
        </p:spPr>
      </p:pic>
      <p:pic>
        <p:nvPicPr>
          <p:cNvPr id="16" name="Picture 15" descr="visual_element_slide_09_01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69396" y="5210175"/>
            <a:ext cx="6269069" cy="438150"/>
          </a:xfrm>
          <a:prstGeom prst="rect">
            <a:avLst/>
          </a:prstGeom>
        </p:spPr>
      </p:pic>
      <p:pic>
        <p:nvPicPr>
          <p:cNvPr id="17" name="Picture 16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8415" y="6182296"/>
            <a:ext cx="123824" cy="123824"/>
          </a:xfrm>
          <a:prstGeom prst="rect">
            <a:avLst/>
          </a:prstGeom>
        </p:spPr>
      </p:pic>
      <p:pic>
        <p:nvPicPr>
          <p:cNvPr id="18" name="Picture 17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8415" y="6681311"/>
            <a:ext cx="123824" cy="123824"/>
          </a:xfrm>
          <a:prstGeom prst="rect">
            <a:avLst/>
          </a:prstGeom>
        </p:spPr>
      </p:pic>
      <p:pic>
        <p:nvPicPr>
          <p:cNvPr id="19" name="Picture 18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8415" y="7545990"/>
            <a:ext cx="123824" cy="123824"/>
          </a:xfrm>
          <a:prstGeom prst="rect">
            <a:avLst/>
          </a:prstGeom>
        </p:spPr>
      </p:pic>
      <p:pic>
        <p:nvPicPr>
          <p:cNvPr id="20" name="Picture 19" descr="visual_element_slide_04_01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8415" y="8045100"/>
            <a:ext cx="123824" cy="1238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47850" y="323850"/>
            <a:ext cx="42100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A78BFA"/>
                </a:solidFill>
                <a:latin typeface="Inter"/>
              </a:defRPr>
            </a:pPr>
            <a:r>
              <a:t>QUANTITATIVE METHOD — 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↩️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47850" y="571500"/>
            <a:ext cx="613410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Reverse Repo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38817" y="1790700"/>
            <a:ext cx="33718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93C5FD"/>
                </a:solidFill>
                <a:latin typeface="Inter"/>
              </a:defRPr>
            </a:pPr>
            <a:r>
              <a:t>Current Reverse Repo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795980" y="2057400"/>
            <a:ext cx="3276600" cy="9620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300" b="1">
                <a:solidFill>
                  <a:srgbClr val="3B82F6"/>
                </a:solidFill>
                <a:latin typeface="Inter"/>
              </a:defRPr>
            </a:pPr>
            <a:r>
              <a:t>3.35%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" y="2486025"/>
            <a:ext cx="33623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Reverse Repo Rate is 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" y="2486025"/>
            <a:ext cx="8401050" cy="7038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rate at which the RBI borrows money from commercial banks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50" y="2894552"/>
            <a:ext cx="8124824" cy="7038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— or equivalently, the rate at which banks park their surplus funds with the RBI. It is the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57742" y="3019425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93C5FD"/>
                </a:solidFill>
                <a:latin typeface="Inter"/>
              </a:defRPr>
            </a:pPr>
            <a:r>
              <a:t>Unchanged — SDF (5.00%) now acts as effective floor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5525" y="3303079"/>
            <a:ext cx="14382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opposite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62800" y="3303079"/>
            <a:ext cx="24765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of the Repo 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99755" y="3924300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📊 Repo vs Reverse Repo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9700" y="4292631"/>
            <a:ext cx="21431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⚙️ How It Works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99755" y="4429125"/>
            <a:ext cx="12573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Direction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47555" y="4429125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RBI → Banks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15388" y="4429125"/>
            <a:ext cx="1600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Banks → RBI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09700" y="4692681"/>
            <a:ext cx="8582025" cy="96764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Banks deposit surplus funds with RBI → RBI pays interest at Reverse Repo Rate → Banks earn a safe return → Excess liquidity is absorbed from the system → Money supply decreases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99755" y="4867275"/>
            <a:ext cx="10096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Action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47555" y="4867275"/>
            <a:ext cx="13525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RBI Lends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915388" y="4867275"/>
            <a:ext cx="15811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RBI Borrows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99755" y="5305425"/>
            <a:ext cx="15144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Rate (2026)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447555" y="5305425"/>
            <a:ext cx="1019174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5.25%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915388" y="5305425"/>
            <a:ext cx="103822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3.35%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99755" y="5743575"/>
            <a:ext cx="933449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A78BFA"/>
                </a:solidFill>
                <a:latin typeface="Inter"/>
              </a:defRPr>
            </a:pPr>
            <a:r>
              <a:t>Effect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47555" y="5743575"/>
            <a:ext cx="1952624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C4B5FD"/>
                </a:solidFill>
                <a:latin typeface="Inter"/>
              </a:defRPr>
            </a:pPr>
            <a:r>
              <a:t>Injects Liquidity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915388" y="5743575"/>
            <a:ext cx="2124075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Absorbs Liquidity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8750" y="6134671"/>
            <a:ext cx="12287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Always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76475" y="6134671"/>
            <a:ext cx="10096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lower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905125" y="6134671"/>
            <a:ext cx="72199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than Repo Rate — forms the floor of RBI's interest rate corridor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28750" y="6633686"/>
            <a:ext cx="890587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When RBI raises Reverse Repo Rate, banks prefer to park funds with RBI rather than lend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99755" y="6667500"/>
            <a:ext cx="20859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🎯 Key Purpose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99755" y="7067550"/>
            <a:ext cx="6372225" cy="91801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When banks have excess funds, a higher Reverse Repo Rate incentivizes them to park money with RBI rather than lend, effectively reducing money supply and controlling inflation.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28750" y="7498365"/>
            <a:ext cx="2095499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Primary tool for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43250" y="7498365"/>
            <a:ext cx="3333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absorbing excess liquidity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96000" y="7498365"/>
            <a:ext cx="31337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from the banking system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28750" y="7997475"/>
            <a:ext cx="851535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Currently being replaced by the Standing Deposit Facility (SDF) as the floor 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10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500" y="-1757172"/>
            <a:ext cx="6667500" cy="6667500"/>
          </a:xfrm>
          <a:prstGeom prst="rect">
            <a:avLst/>
          </a:prstGeom>
        </p:spPr>
      </p:pic>
      <p:pic>
        <p:nvPicPr>
          <p:cNvPr id="4" name="Picture 3" descr="visual_element_slide_10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66700"/>
            <a:ext cx="7429500" cy="9753600"/>
          </a:xfrm>
          <a:prstGeom prst="rect">
            <a:avLst/>
          </a:prstGeom>
        </p:spPr>
      </p:pic>
      <p:pic>
        <p:nvPicPr>
          <p:cNvPr id="5" name="Picture 4" descr="visual_element_slide_10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87500" y="6638829"/>
            <a:ext cx="4762500" cy="4762500"/>
          </a:xfrm>
          <a:prstGeom prst="rect">
            <a:avLst/>
          </a:prstGeom>
        </p:spPr>
      </p:pic>
      <p:pic>
        <p:nvPicPr>
          <p:cNvPr id="6" name="Picture 5" descr="visual_element_slide_10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225" y="733425"/>
            <a:ext cx="2457450" cy="457200"/>
          </a:xfrm>
          <a:prstGeom prst="rect">
            <a:avLst/>
          </a:prstGeom>
        </p:spPr>
      </p:pic>
      <p:pic>
        <p:nvPicPr>
          <p:cNvPr id="7" name="Picture 6" descr="visual_element_slide_10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819150"/>
            <a:ext cx="9410700" cy="1162050"/>
          </a:xfrm>
          <a:prstGeom prst="rect">
            <a:avLst/>
          </a:prstGeom>
        </p:spPr>
      </p:pic>
      <p:pic>
        <p:nvPicPr>
          <p:cNvPr id="8" name="Picture 7" descr="visual_element_slide_10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2152650"/>
            <a:ext cx="9410700" cy="1162050"/>
          </a:xfrm>
          <a:prstGeom prst="rect">
            <a:avLst/>
          </a:prstGeom>
        </p:spPr>
      </p:pic>
      <p:pic>
        <p:nvPicPr>
          <p:cNvPr id="9" name="Picture 8" descr="visual_element_slide_10_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3486150"/>
            <a:ext cx="9410700" cy="1162050"/>
          </a:xfrm>
          <a:prstGeom prst="rect">
            <a:avLst/>
          </a:prstGeom>
        </p:spPr>
      </p:pic>
      <p:pic>
        <p:nvPicPr>
          <p:cNvPr id="10" name="Picture 9" descr="visual_element_slide_10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0" y="4819650"/>
            <a:ext cx="9410700" cy="1162050"/>
          </a:xfrm>
          <a:prstGeom prst="rect">
            <a:avLst/>
          </a:prstGeom>
        </p:spPr>
      </p:pic>
      <p:pic>
        <p:nvPicPr>
          <p:cNvPr id="11" name="Picture 10" descr="visual_element_slide_10_00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8225" y="5295328"/>
            <a:ext cx="6419850" cy="2226468"/>
          </a:xfrm>
          <a:prstGeom prst="rect">
            <a:avLst/>
          </a:prstGeom>
        </p:spPr>
      </p:pic>
      <p:pic>
        <p:nvPicPr>
          <p:cNvPr id="12" name="Picture 11" descr="visual_element_slide_10_00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8225" y="7693247"/>
            <a:ext cx="6419850" cy="1865090"/>
          </a:xfrm>
          <a:prstGeom prst="rect">
            <a:avLst/>
          </a:prstGeom>
        </p:spPr>
      </p:pic>
      <p:pic>
        <p:nvPicPr>
          <p:cNvPr id="13" name="Picture 12" descr="visual_element_slide_10_0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225" y="9729787"/>
            <a:ext cx="6419850" cy="17025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43900" y="266700"/>
            <a:ext cx="51339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93C5FD"/>
                </a:solidFill>
                <a:latin typeface="Inter"/>
              </a:defRPr>
            </a:pPr>
            <a:r>
              <a:t>QUALITATIVE INSTRUMENTS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50" y="866775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000000"/>
                </a:solidFill>
                <a:latin typeface="Inter"/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81150" y="838200"/>
            <a:ext cx="20574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Section 2 of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6400" y="1076325"/>
            <a:ext cx="33718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E2D9FF"/>
                </a:solidFill>
                <a:latin typeface="Inter"/>
              </a:defRPr>
            </a:pPr>
            <a:r>
              <a:t>Margin Requirements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9175" y="1181100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192625" y="123825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8225" y="1371600"/>
            <a:ext cx="4919662" cy="942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150" b="1">
                <a:solidFill>
                  <a:srgbClr val="E2D9FF"/>
                </a:solidFill>
                <a:latin typeface="Inter"/>
              </a:defRPr>
            </a:pPr>
            <a:r>
              <a:t>Qualitative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1476375"/>
            <a:ext cx="59436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Collateral cushion between loan value and security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8225" y="2191607"/>
            <a:ext cx="4071937" cy="942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6150" b="1">
                <a:solidFill>
                  <a:srgbClr val="3B82F6"/>
                </a:solidFill>
                <a:latin typeface="Inter"/>
              </a:defRPr>
            </a:pPr>
            <a: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2409825"/>
            <a:ext cx="261937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E2D9FF"/>
                </a:solidFill>
                <a:latin typeface="Inter"/>
              </a:defRPr>
            </a:pPr>
            <a:r>
              <a:t>Credit Rationing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9175" y="2514600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2625" y="257175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6400" y="2809875"/>
            <a:ext cx="53721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Limiting total credit allocation by commercial banks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225" y="3383184"/>
            <a:ext cx="55530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C4B5FD"/>
                </a:solidFill>
                <a:latin typeface="Inter"/>
              </a:defRPr>
            </a:pPr>
            <a:r>
              <a:t>Qualitative (Selective) methods regulate 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8225" y="3383184"/>
            <a:ext cx="6619875" cy="71618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direction and purpose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6400" y="3743325"/>
            <a:ext cx="2362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E2D9FF"/>
                </a:solidFill>
                <a:latin typeface="Inter"/>
              </a:defRPr>
            </a:pPr>
            <a:r>
              <a:t>Moral Suasion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8225" y="3804094"/>
            <a:ext cx="6391275" cy="113709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C4B5FD"/>
                </a:solidFill>
                <a:latin typeface="Inter"/>
              </a:defRPr>
            </a:pPr>
            <a:r>
              <a:t>of credit — steering it toward or away from specific sectors, without affecting total credit volume.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9175" y="3848099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192625" y="3905249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6400" y="4143375"/>
            <a:ext cx="53340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Informal persuasion through advice and guidelines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6400" y="5076825"/>
            <a:ext cx="219075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E2D9FF"/>
                </a:solidFill>
                <a:latin typeface="Inter"/>
              </a:defRPr>
            </a:pPr>
            <a:r>
              <a:t>Direct 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39175" y="5181600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⚖️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192625" y="5238750"/>
            <a:ext cx="647700" cy="3238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B82F6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4450" y="5514403"/>
            <a:ext cx="27146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🎯 Primary Objective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6400" y="5476875"/>
            <a:ext cx="54768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Coercive enforcement against non-compliant banks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14450" y="5895403"/>
            <a:ext cx="1885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To control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4450" y="5895403"/>
            <a:ext cx="6048375" cy="1350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of credit into specific sectors — encouraging lending to priority areas (agriculture, SMEs) while discouraging speculative or unproductive lending.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19400" y="5895403"/>
            <a:ext cx="8382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14450" y="7912322"/>
            <a:ext cx="27908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⚡ Key Characteristic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4450" y="8293322"/>
            <a:ext cx="203834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These tools are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4450" y="8293322"/>
            <a:ext cx="5924550" cy="9894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CD2FF"/>
                </a:solidFill>
                <a:latin typeface="Inter"/>
              </a:defRPr>
            </a:pPr>
            <a:r>
              <a:t>— they target specific sectors, borrowers, or purposes rather than the economy as a whole.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71800" y="8293322"/>
            <a:ext cx="1924049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discriminatory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76350" y="9948862"/>
            <a:ext cx="6953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76350" y="9948862"/>
            <a:ext cx="5810250" cy="5828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While quantitative tools control the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90675" y="9948862"/>
            <a:ext cx="31623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Quantitative vs Qualitative: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90775" y="10284047"/>
            <a:ext cx="11144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amount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24200" y="10284047"/>
            <a:ext cx="40100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of credit, qualitative tools control the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76350" y="10619232"/>
            <a:ext cx="5038725" cy="5828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— together they form a comprehensive credit management framework.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76350" y="10619232"/>
            <a:ext cx="25241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purpose and direction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11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40954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11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2010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11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11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29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11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6600825" cy="733425"/>
          </a:xfrm>
          <a:prstGeom prst="rect">
            <a:avLst/>
          </a:prstGeom>
        </p:spPr>
      </p:pic>
      <p:pic>
        <p:nvPicPr>
          <p:cNvPr id="8" name="Picture 7" descr="visual_element_slide_11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51596" y="1713357"/>
            <a:ext cx="5899880" cy="2783490"/>
          </a:xfrm>
          <a:prstGeom prst="rect">
            <a:avLst/>
          </a:prstGeom>
        </p:spPr>
      </p:pic>
      <p:pic>
        <p:nvPicPr>
          <p:cNvPr id="9" name="Picture 8" descr="visual_element_slide_11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1854" y="1857375"/>
            <a:ext cx="8818530" cy="2453259"/>
          </a:xfrm>
          <a:prstGeom prst="rect">
            <a:avLst/>
          </a:prstGeom>
        </p:spPr>
      </p:pic>
      <p:pic>
        <p:nvPicPr>
          <p:cNvPr id="10" name="Picture 9" descr="visual_element_slide_11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854" y="4520184"/>
            <a:ext cx="8818530" cy="1794414"/>
          </a:xfrm>
          <a:prstGeom prst="rect">
            <a:avLst/>
          </a:prstGeom>
        </p:spPr>
      </p:pic>
      <p:pic>
        <p:nvPicPr>
          <p:cNvPr id="11" name="Picture 10" descr="visual_element_slide_11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3250" y="2334672"/>
            <a:ext cx="5336571" cy="480536"/>
          </a:xfrm>
          <a:prstGeom prst="rect">
            <a:avLst/>
          </a:prstGeom>
        </p:spPr>
      </p:pic>
      <p:pic>
        <p:nvPicPr>
          <p:cNvPr id="12" name="Picture 11" descr="visual_element_slide_11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3250" y="2815209"/>
            <a:ext cx="5336571" cy="480536"/>
          </a:xfrm>
          <a:prstGeom prst="rect">
            <a:avLst/>
          </a:prstGeom>
        </p:spPr>
      </p:pic>
      <p:pic>
        <p:nvPicPr>
          <p:cNvPr id="13" name="Picture 12" descr="visual_element_slide_11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33250" y="3295650"/>
            <a:ext cx="5336571" cy="480536"/>
          </a:xfrm>
          <a:prstGeom prst="rect">
            <a:avLst/>
          </a:prstGeom>
        </p:spPr>
      </p:pic>
      <p:pic>
        <p:nvPicPr>
          <p:cNvPr id="14" name="Picture 13" descr="visual_element_slide_06_0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09827" y="4895850"/>
            <a:ext cx="3315557" cy="2099119"/>
          </a:xfrm>
          <a:prstGeom prst="rect">
            <a:avLst/>
          </a:prstGeom>
        </p:spPr>
      </p:pic>
      <p:pic>
        <p:nvPicPr>
          <p:cNvPr id="15" name="Picture 14" descr="visual_element_slide_06_0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77784" y="4895850"/>
            <a:ext cx="3315557" cy="2099119"/>
          </a:xfrm>
          <a:prstGeom prst="rect">
            <a:avLst/>
          </a:prstGeom>
        </p:spPr>
      </p:pic>
      <p:pic>
        <p:nvPicPr>
          <p:cNvPr id="16" name="Picture 15" descr="visual_element_slide_11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1854" y="6609873"/>
            <a:ext cx="123824" cy="123824"/>
          </a:xfrm>
          <a:prstGeom prst="rect">
            <a:avLst/>
          </a:prstGeom>
        </p:spPr>
      </p:pic>
      <p:pic>
        <p:nvPicPr>
          <p:cNvPr id="17" name="Picture 16" descr="visual_element_slide_11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1854" y="7474553"/>
            <a:ext cx="123824" cy="123824"/>
          </a:xfrm>
          <a:prstGeom prst="rect">
            <a:avLst/>
          </a:prstGeom>
        </p:spPr>
      </p:pic>
      <p:pic>
        <p:nvPicPr>
          <p:cNvPr id="18" name="Picture 17" descr="visual_element_slide_11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1854" y="8339327"/>
            <a:ext cx="123824" cy="123824"/>
          </a:xfrm>
          <a:prstGeom prst="rect">
            <a:avLst/>
          </a:prstGeom>
        </p:spPr>
      </p:pic>
      <p:pic>
        <p:nvPicPr>
          <p:cNvPr id="19" name="Picture 18" descr="visual_element_slide_11_0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1854" y="8838342"/>
            <a:ext cx="123824" cy="12382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47850" y="323850"/>
            <a:ext cx="39433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QUALITATIVE METHOD —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850" y="571500"/>
            <a:ext cx="705802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Margin Requirements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6430" y="1790700"/>
            <a:ext cx="28765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📊 Numerical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6430" y="2357437"/>
            <a:ext cx="27146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A78BFA"/>
                </a:solidFill>
                <a:latin typeface="Inter"/>
              </a:defRPr>
            </a:pPr>
            <a:r>
              <a:t>Security Market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954375" y="2343150"/>
            <a:ext cx="16287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₹1,00,000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" y="2486025"/>
            <a:ext cx="35052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Margin Requirement is the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" y="2486025"/>
            <a:ext cx="8639175" cy="7038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difference between the market value of the security offered as collateral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50" y="2894552"/>
            <a:ext cx="8505825" cy="11123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and the amount of loan granted against it. RBI prescribes minimum margin requirements for loans against specific securities.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6430" y="2909887"/>
            <a:ext cx="2514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A78BFA"/>
                </a:solidFill>
                <a:latin typeface="Inter"/>
              </a:defRPr>
            </a:pPr>
            <a:r>
              <a:t>Margin Requirement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02075" y="2895600"/>
            <a:ext cx="9810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40%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6430" y="3462337"/>
            <a:ext cx="19907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A78BFA"/>
                </a:solidFill>
                <a:latin typeface="Inter"/>
              </a:defRPr>
            </a:pPr>
            <a:r>
              <a:t>Maximum Loan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144875" y="3448050"/>
            <a:ext cx="14382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₹60,000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6430" y="4014787"/>
            <a:ext cx="2000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A78BFA"/>
                </a:solidFill>
                <a:latin typeface="Inter"/>
              </a:defRPr>
            </a:pPr>
            <a:r>
              <a:t>Margin Amount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135349" y="4000500"/>
            <a:ext cx="14478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₹40,000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09700" y="4720209"/>
            <a:ext cx="12192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C4B5FD"/>
                </a:solidFill>
                <a:latin typeface="Inter"/>
              </a:defRPr>
            </a:pPr>
            <a:r>
              <a:t>Formula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9700" y="5110734"/>
            <a:ext cx="6560058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Courier New"/>
              </a:defRPr>
            </a:pPr>
            <a:r>
              <a:t>Margin = Market Value of Security − Loan Amount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80705" y="5114925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86EFAC"/>
                </a:solidFill>
                <a:latin typeface="Inter"/>
              </a:defRPr>
            </a:pPr>
            <a:r>
              <a:t>📈 Margin 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8663" y="5114925"/>
            <a:ext cx="17335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📉 Margin 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80705" y="5514975"/>
            <a:ext cx="3219450" cy="12218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Less loan per unit of security → Credit contracts → Speculation curbed → Inflation controlled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8663" y="5514975"/>
            <a:ext cx="2990850" cy="12218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More loan per unit of security → Credit expands → Investment encouraged → Growth stimulated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09700" y="5811774"/>
            <a:ext cx="6034087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Courier New"/>
              </a:defRPr>
            </a:pPr>
            <a:r>
              <a:t>Loan Amount = Market Value × (1 − Margin %)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28750" y="6562248"/>
            <a:ext cx="800100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Higher margin → Borrower must provide more collateral → Less credit available → Discourages borrowing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8750" y="7426928"/>
            <a:ext cx="30765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Primarily used to control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28750" y="7426928"/>
            <a:ext cx="855345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— especially in stock markets and commodity trading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24325" y="7426928"/>
            <a:ext cx="2571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speculative lending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8750" y="8291703"/>
            <a:ext cx="8010524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Different margins can be set for different sectors — selective in nature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8750" y="8790717"/>
            <a:ext cx="7839074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Protects banks from losses if collateral value falls (risk management)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11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51527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11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34962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12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12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12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4972050" cy="733425"/>
          </a:xfrm>
          <a:prstGeom prst="rect">
            <a:avLst/>
          </a:prstGeom>
        </p:spPr>
      </p:pic>
      <p:pic>
        <p:nvPicPr>
          <p:cNvPr id="8" name="Picture 7" descr="visual_element_slide_12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580" y="1504950"/>
            <a:ext cx="6783419" cy="2600325"/>
          </a:xfrm>
          <a:prstGeom prst="rect">
            <a:avLst/>
          </a:prstGeom>
        </p:spPr>
      </p:pic>
      <p:pic>
        <p:nvPicPr>
          <p:cNvPr id="9" name="Picture 8" descr="visual_element_slide_11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2525" y="1857375"/>
            <a:ext cx="8818530" cy="2453259"/>
          </a:xfrm>
          <a:prstGeom prst="rect">
            <a:avLst/>
          </a:prstGeom>
        </p:spPr>
      </p:pic>
      <p:pic>
        <p:nvPicPr>
          <p:cNvPr id="10" name="Picture 9" descr="visual_element_slide_12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2525" y="4520184"/>
            <a:ext cx="8818530" cy="3032569"/>
          </a:xfrm>
          <a:prstGeom prst="rect">
            <a:avLst/>
          </a:prstGeom>
        </p:spPr>
      </p:pic>
      <p:pic>
        <p:nvPicPr>
          <p:cNvPr id="11" name="Picture 10" descr="visual_element_slide_12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42580" y="7327963"/>
            <a:ext cx="6783419" cy="1802034"/>
          </a:xfrm>
          <a:prstGeom prst="rect">
            <a:avLst/>
          </a:prstGeom>
        </p:spPr>
      </p:pic>
      <p:pic>
        <p:nvPicPr>
          <p:cNvPr id="12" name="Picture 11" descr="visual_element_slide_11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2580" y="4362450"/>
            <a:ext cx="123824" cy="123824"/>
          </a:xfrm>
          <a:prstGeom prst="rect">
            <a:avLst/>
          </a:prstGeom>
        </p:spPr>
      </p:pic>
      <p:pic>
        <p:nvPicPr>
          <p:cNvPr id="13" name="Picture 12" descr="visual_element_slide_11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2580" y="5379529"/>
            <a:ext cx="123824" cy="123824"/>
          </a:xfrm>
          <a:prstGeom prst="rect">
            <a:avLst/>
          </a:prstGeom>
        </p:spPr>
      </p:pic>
      <p:pic>
        <p:nvPicPr>
          <p:cNvPr id="14" name="Picture 13" descr="visual_element_slide_11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42580" y="6396609"/>
            <a:ext cx="123824" cy="123824"/>
          </a:xfrm>
          <a:prstGeom prst="rect">
            <a:avLst/>
          </a:prstGeom>
        </p:spPr>
      </p:pic>
      <p:pic>
        <p:nvPicPr>
          <p:cNvPr id="15" name="Picture 14" descr="visual_element_slide_11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525" y="7828978"/>
            <a:ext cx="123824" cy="123824"/>
          </a:xfrm>
          <a:prstGeom prst="rect">
            <a:avLst/>
          </a:prstGeom>
        </p:spPr>
      </p:pic>
      <p:pic>
        <p:nvPicPr>
          <p:cNvPr id="16" name="Picture 15" descr="visual_element_slide_11_01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2525" y="8308943"/>
            <a:ext cx="123824" cy="123824"/>
          </a:xfrm>
          <a:prstGeom prst="rect">
            <a:avLst/>
          </a:prstGeom>
        </p:spPr>
      </p:pic>
      <p:pic>
        <p:nvPicPr>
          <p:cNvPr id="17" name="Picture 16" descr="visual_element_slide_12_014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37855" y="2190750"/>
            <a:ext cx="1885950" cy="476250"/>
          </a:xfrm>
          <a:prstGeom prst="rect">
            <a:avLst/>
          </a:prstGeom>
        </p:spPr>
      </p:pic>
      <p:pic>
        <p:nvPicPr>
          <p:cNvPr id="18" name="Picture 17" descr="visual_element_slide_12_01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38105" y="2190750"/>
            <a:ext cx="1514475" cy="476250"/>
          </a:xfrm>
          <a:prstGeom prst="rect">
            <a:avLst/>
          </a:prstGeom>
        </p:spPr>
      </p:pic>
      <p:pic>
        <p:nvPicPr>
          <p:cNvPr id="19" name="Picture 18" descr="visual_element_slide_12_01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666880" y="2190750"/>
            <a:ext cx="1600200" cy="476250"/>
          </a:xfrm>
          <a:prstGeom prst="rect">
            <a:avLst/>
          </a:prstGeom>
        </p:spPr>
      </p:pic>
      <p:pic>
        <p:nvPicPr>
          <p:cNvPr id="20" name="Picture 19" descr="visual_element_slide_12_017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037855" y="2781300"/>
            <a:ext cx="1781175" cy="476250"/>
          </a:xfrm>
          <a:prstGeom prst="rect">
            <a:avLst/>
          </a:prstGeom>
        </p:spPr>
      </p:pic>
      <p:pic>
        <p:nvPicPr>
          <p:cNvPr id="21" name="Picture 20" descr="visual_element_slide_12_018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933330" y="2781300"/>
            <a:ext cx="2638425" cy="476250"/>
          </a:xfrm>
          <a:prstGeom prst="rect">
            <a:avLst/>
          </a:prstGeom>
        </p:spPr>
      </p:pic>
      <p:pic>
        <p:nvPicPr>
          <p:cNvPr id="22" name="Picture 21" descr="visual_element_slide_12_019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37855" y="3371850"/>
            <a:ext cx="1857375" cy="476250"/>
          </a:xfrm>
          <a:prstGeom prst="rect">
            <a:avLst/>
          </a:prstGeom>
        </p:spPr>
      </p:pic>
      <p:pic>
        <p:nvPicPr>
          <p:cNvPr id="23" name="Picture 22" descr="visual_element_slide_12_02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9700" y="5139309"/>
            <a:ext cx="361950" cy="361950"/>
          </a:xfrm>
          <a:prstGeom prst="rect">
            <a:avLst/>
          </a:prstGeom>
        </p:spPr>
      </p:pic>
      <p:pic>
        <p:nvPicPr>
          <p:cNvPr id="24" name="Picture 23" descr="visual_element_slide_12_020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409700" y="6246018"/>
            <a:ext cx="361950" cy="3619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47850" y="323850"/>
            <a:ext cx="3990974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QUALITATIVE METHOD — 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7850" y="571500"/>
            <a:ext cx="542925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Credit Rationing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37855" y="1762125"/>
            <a:ext cx="36290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🎯 Priority Sectors Benefited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56930" y="2305050"/>
            <a:ext cx="18288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🌾 Agriculture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7180" y="2305050"/>
            <a:ext cx="14573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🏭 MSMEs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85955" y="2305050"/>
            <a:ext cx="15430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🏠 Housing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28750" y="2486025"/>
            <a:ext cx="59817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Credit Rationing is the method by which the RBI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28750" y="2486025"/>
            <a:ext cx="8467725" cy="70380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limits or controls the total amount of credit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28750" y="2894552"/>
            <a:ext cx="8058150" cy="111232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that commercial banks can extend to borrowers. RBI fixes the maximum credit limit for each bank or for specific sectors of the economy.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56930" y="2895600"/>
            <a:ext cx="17240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📚 Education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52405" y="2895600"/>
            <a:ext cx="258127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🌿 Renewable Energy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56930" y="3486150"/>
            <a:ext cx="1800225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🏥 Healthcare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805" y="4314825"/>
            <a:ext cx="602932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RBI mandates that 40% of Adjusted Net Bank Credit (ANBC) must go to priority sectors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09700" y="4720209"/>
            <a:ext cx="36576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Two Forms of Credit Rationing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4049" y="5139309"/>
            <a:ext cx="31908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2D9FF"/>
                </a:solidFill>
                <a:latin typeface="Inter"/>
              </a:defRPr>
            </a:pPr>
            <a:r>
              <a:t>Variable Portfolio Ceiling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47812" y="5205983"/>
            <a:ext cx="4667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805" y="5331904"/>
            <a:ext cx="679132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Failure to meet targets results in banks contributing to RIDF (Rural Infrastructure Development Fund)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4049" y="5501258"/>
            <a:ext cx="7400925" cy="5723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RBI fixes the maximum amount of credit that each commercial bank can provide — banks cannot lend beyond this ceiling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4049" y="6246018"/>
            <a:ext cx="27717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2D9FF"/>
                </a:solidFill>
                <a:latin typeface="Inter"/>
              </a:defRPr>
            </a:pPr>
            <a:r>
              <a:t>Variable Loan Ceiling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8762" y="6312693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805" y="6348983"/>
            <a:ext cx="668655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Effective tool during inflationary periods to prevent excess credit creation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4049" y="6607968"/>
            <a:ext cx="7820025" cy="57235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RBI fixes the maximum loan amount for specific purposes or sectors — e.g., maximum loan against commodities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99755" y="7566088"/>
            <a:ext cx="7143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99755" y="7566088"/>
            <a:ext cx="6524625" cy="13181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Credit rationing is both a credit control tool AND a development policy instrument — it simultaneously manages money supply and promotes inclusive economic growth.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3130" y="7566088"/>
            <a:ext cx="16478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93C5FD"/>
                </a:solidFill>
                <a:latin typeface="Inter"/>
              </a:defRPr>
            </a:pPr>
            <a:r>
              <a:t>Key Insight: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28750" y="7781353"/>
            <a:ext cx="29432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Ensures credit flows to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90974" y="7781353"/>
            <a:ext cx="21145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priority sectors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24525" y="7781353"/>
            <a:ext cx="44481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like agriculture, MSMEs, and housing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28750" y="8261318"/>
            <a:ext cx="88963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Prevents over-concentration of credit in speculative or non-productive sectors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13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40954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13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2010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13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08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329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13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4371975" cy="733425"/>
          </a:xfrm>
          <a:prstGeom prst="rect">
            <a:avLst/>
          </a:prstGeom>
        </p:spPr>
      </p:pic>
      <p:pic>
        <p:nvPicPr>
          <p:cNvPr id="8" name="Picture 7" descr="visual_element_slide_13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09827" y="1504950"/>
            <a:ext cx="6783419" cy="2581275"/>
          </a:xfrm>
          <a:prstGeom prst="rect">
            <a:avLst/>
          </a:prstGeom>
        </p:spPr>
      </p:pic>
      <p:pic>
        <p:nvPicPr>
          <p:cNvPr id="9" name="Picture 8" descr="visual_element_slide_11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1854" y="1857375"/>
            <a:ext cx="8818530" cy="2453259"/>
          </a:xfrm>
          <a:prstGeom prst="rect">
            <a:avLst/>
          </a:prstGeom>
        </p:spPr>
      </p:pic>
      <p:pic>
        <p:nvPicPr>
          <p:cNvPr id="10" name="Picture 9" descr="visual_element_slide_11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1854" y="4520184"/>
            <a:ext cx="8818530" cy="1790700"/>
          </a:xfrm>
          <a:prstGeom prst="rect">
            <a:avLst/>
          </a:prstGeom>
        </p:spPr>
      </p:pic>
      <p:pic>
        <p:nvPicPr>
          <p:cNvPr id="11" name="Picture 10" descr="visual_element_slide_13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09827" y="4276725"/>
            <a:ext cx="3315557" cy="3429000"/>
          </a:xfrm>
          <a:prstGeom prst="rect">
            <a:avLst/>
          </a:prstGeom>
        </p:spPr>
      </p:pic>
      <p:pic>
        <p:nvPicPr>
          <p:cNvPr id="12" name="Picture 11" descr="visual_element_slide_13_00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277784" y="4276725"/>
            <a:ext cx="3315557" cy="3429000"/>
          </a:xfrm>
          <a:prstGeom prst="rect">
            <a:avLst/>
          </a:prstGeom>
        </p:spPr>
      </p:pic>
      <p:pic>
        <p:nvPicPr>
          <p:cNvPr id="13" name="Picture 12" descr="visual_element_slide_11_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854" y="6587108"/>
            <a:ext cx="123824" cy="123824"/>
          </a:xfrm>
          <a:prstGeom prst="rect">
            <a:avLst/>
          </a:prstGeom>
        </p:spPr>
      </p:pic>
      <p:pic>
        <p:nvPicPr>
          <p:cNvPr id="14" name="Picture 13" descr="visual_element_slide_11_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854" y="7451788"/>
            <a:ext cx="123824" cy="123824"/>
          </a:xfrm>
          <a:prstGeom prst="rect">
            <a:avLst/>
          </a:prstGeom>
        </p:spPr>
      </p:pic>
      <p:pic>
        <p:nvPicPr>
          <p:cNvPr id="15" name="Picture 14" descr="visual_element_slide_11_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854" y="8316563"/>
            <a:ext cx="123824" cy="123824"/>
          </a:xfrm>
          <a:prstGeom prst="rect">
            <a:avLst/>
          </a:prstGeom>
        </p:spPr>
      </p:pic>
      <p:pic>
        <p:nvPicPr>
          <p:cNvPr id="16" name="Picture 15" descr="visual_element_slide_11_0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1854" y="9181242"/>
            <a:ext cx="123824" cy="123824"/>
          </a:xfrm>
          <a:prstGeom prst="rect">
            <a:avLst/>
          </a:prstGeom>
        </p:spPr>
      </p:pic>
      <p:pic>
        <p:nvPicPr>
          <p:cNvPr id="17" name="Picture 16" descr="visual_element_slide_13_0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79029" y="5120258"/>
            <a:ext cx="2419350" cy="447675"/>
          </a:xfrm>
          <a:prstGeom prst="rect">
            <a:avLst/>
          </a:prstGeom>
        </p:spPr>
      </p:pic>
      <p:pic>
        <p:nvPicPr>
          <p:cNvPr id="18" name="Picture 17" descr="visual_element_slide_13_0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93629" y="5120258"/>
            <a:ext cx="1885950" cy="447675"/>
          </a:xfrm>
          <a:prstGeom prst="rect">
            <a:avLst/>
          </a:prstGeom>
        </p:spPr>
      </p:pic>
      <p:pic>
        <p:nvPicPr>
          <p:cNvPr id="19" name="Picture 18" descr="visual_element_slide_13_0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874829" y="5120258"/>
            <a:ext cx="2533650" cy="447675"/>
          </a:xfrm>
          <a:prstGeom prst="rect">
            <a:avLst/>
          </a:prstGeom>
        </p:spPr>
      </p:pic>
      <p:pic>
        <p:nvPicPr>
          <p:cNvPr id="20" name="Picture 19" descr="visual_element_slide_13_01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79029" y="5663183"/>
            <a:ext cx="1676400" cy="447675"/>
          </a:xfrm>
          <a:prstGeom prst="rect">
            <a:avLst/>
          </a:prstGeom>
        </p:spPr>
      </p:pic>
      <p:pic>
        <p:nvPicPr>
          <p:cNvPr id="21" name="Picture 20" descr="visual_element_slide_13_01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50679" y="5663183"/>
            <a:ext cx="1790700" cy="447675"/>
          </a:xfrm>
          <a:prstGeom prst="rect">
            <a:avLst/>
          </a:prstGeom>
        </p:spPr>
      </p:pic>
      <p:pic>
        <p:nvPicPr>
          <p:cNvPr id="22" name="Picture 21" descr="visual_element_slide_13_019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36629" y="5663183"/>
            <a:ext cx="1543050" cy="4476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47850" y="323850"/>
            <a:ext cx="3990974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QUALITATIVE METHOD — 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47850" y="571500"/>
            <a:ext cx="4829175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Moral Suasion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75955" y="1857375"/>
            <a:ext cx="6200775" cy="150018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defRPr sz="1875" b="0">
                <a:solidFill>
                  <a:srgbClr val="DCD2FF"/>
                </a:solidFill>
                <a:latin typeface="Inter"/>
              </a:defRPr>
            </a:pPr>
            <a:r>
              <a:t>"The RBI's moral suasion works best when commercial banks trust the central bank's judgment and share its commitment to monetary stability and economic growth."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" y="2486025"/>
            <a:ext cx="258127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Moral Suasion is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50" y="2486025"/>
            <a:ext cx="8410575" cy="15208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by which the RBI persuades, advises, and requests commercial banks to follow its credit policies through oral or written communications — without using legal force or penalties.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29025" y="2486025"/>
            <a:ext cx="46101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psychological and informal method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75955" y="3552825"/>
            <a:ext cx="33147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93C5FD"/>
                </a:solidFill>
                <a:latin typeface="Inter"/>
              </a:defRPr>
            </a:pPr>
            <a:r>
              <a:t>— Principle of Central Banking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80705" y="4495800"/>
            <a:ext cx="2066924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6EFAC"/>
                </a:solidFill>
                <a:latin typeface="Inter"/>
              </a:defRPr>
            </a:pPr>
            <a:r>
              <a:t>✅ Advantages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8663" y="4495800"/>
            <a:ext cx="1981199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CA5A5"/>
                </a:solidFill>
                <a:latin typeface="Inter"/>
              </a:defRPr>
            </a:pPr>
            <a:r>
              <a:t>❌ Limitations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09700" y="4720209"/>
            <a:ext cx="32575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C4B5FD"/>
                </a:solidFill>
                <a:latin typeface="Inter"/>
              </a:defRPr>
            </a:pPr>
            <a:r>
              <a:t>📋 Forms of Moral Suasion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0705" y="4933950"/>
            <a:ext cx="256222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Flexible and quick to implement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8663" y="4933950"/>
            <a:ext cx="267652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No legal enforcement power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8775" y="5225034"/>
            <a:ext cx="23622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📝 Written Circulars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43375" y="5225034"/>
            <a:ext cx="18288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🗣️ Oral Advice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4575" y="5225034"/>
            <a:ext cx="24765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📢 Public Statements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80705" y="5657850"/>
            <a:ext cx="27813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No legal complications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448663" y="5657850"/>
            <a:ext cx="30099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Banks may ignore advice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28775" y="5767959"/>
            <a:ext cx="1619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⚠️ Warnings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00425" y="5767959"/>
            <a:ext cx="17335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📊 Guidelines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6375" y="5767959"/>
            <a:ext cx="14859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93C5FD"/>
                </a:solidFill>
                <a:latin typeface="Inter"/>
              </a:defRPr>
            </a:pPr>
            <a:r>
              <a:t>🤝 Appeals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80705" y="6067425"/>
            <a:ext cx="300990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Maintains good RBI-bank relations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448663" y="6067425"/>
            <a:ext cx="2828925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Effectiveness varies by situation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28750" y="6539484"/>
            <a:ext cx="17049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RBI uses 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28750" y="6539484"/>
            <a:ext cx="834390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and prestige as the central bank to influence bank behavior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52725" y="6539484"/>
            <a:ext cx="212407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moral authority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80705" y="6791325"/>
            <a:ext cx="23812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Cost-effective tool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448663" y="6791325"/>
            <a:ext cx="2305050" cy="56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D2C8FF"/>
                </a:solidFill>
                <a:latin typeface="Inter"/>
              </a:defRPr>
            </a:pPr>
            <a:r>
              <a:t>• Depends on RBI's credibility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28750" y="7404163"/>
            <a:ext cx="882967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No legal obligation — banks comply voluntarily out of respect and cooperative spirit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28750" y="8268938"/>
            <a:ext cx="29527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Frequently used during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28750" y="8268938"/>
            <a:ext cx="822960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to discourage excessive lending in specific sectors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00500" y="8268938"/>
            <a:ext cx="18478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credit booms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28750" y="9133617"/>
            <a:ext cx="8667750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Effective when RBI has strong credibility and good relations with commercial banks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background_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visual_element_slide_11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9250" y="-1540478"/>
            <a:ext cx="6191250" cy="6191250"/>
          </a:xfrm>
          <a:prstGeom prst="rect">
            <a:avLst/>
          </a:prstGeom>
        </p:spPr>
      </p:pic>
      <p:pic>
        <p:nvPicPr>
          <p:cNvPr id="4" name="Picture 3" descr="visual_element_slide_14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71500" y="6942391"/>
            <a:ext cx="4286250" cy="4286250"/>
          </a:xfrm>
          <a:prstGeom prst="rect">
            <a:avLst/>
          </a:prstGeom>
        </p:spPr>
      </p:pic>
      <p:pic>
        <p:nvPicPr>
          <p:cNvPr id="5" name="Picture 4" descr="visual_element_slide_14_0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04812"/>
            <a:ext cx="819150" cy="819150"/>
          </a:xfrm>
          <a:prstGeom prst="rect">
            <a:avLst/>
          </a:prstGeom>
        </p:spPr>
      </p:pic>
      <p:pic>
        <p:nvPicPr>
          <p:cNvPr id="6" name="Picture 5" descr="visual_element_slide_14_0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995" y="1504950"/>
            <a:ext cx="9599580" cy="8477250"/>
          </a:xfrm>
          <a:prstGeom prst="rect">
            <a:avLst/>
          </a:prstGeom>
        </p:spPr>
      </p:pic>
      <p:pic>
        <p:nvPicPr>
          <p:cNvPr id="7" name="Picture 6" descr="visual_element_slide_14_0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7850" y="571500"/>
            <a:ext cx="4019549" cy="733425"/>
          </a:xfrm>
          <a:prstGeom prst="rect">
            <a:avLst/>
          </a:prstGeom>
        </p:spPr>
      </p:pic>
      <p:pic>
        <p:nvPicPr>
          <p:cNvPr id="8" name="Picture 7" descr="visual_element_slide_14_0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16971" y="1504950"/>
            <a:ext cx="6783419" cy="3429000"/>
          </a:xfrm>
          <a:prstGeom prst="rect">
            <a:avLst/>
          </a:prstGeom>
        </p:spPr>
      </p:pic>
      <p:pic>
        <p:nvPicPr>
          <p:cNvPr id="9" name="Picture 8" descr="visual_element_slide_11_00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6520" y="1857375"/>
            <a:ext cx="8818530" cy="2453259"/>
          </a:xfrm>
          <a:prstGeom prst="rect">
            <a:avLst/>
          </a:prstGeom>
        </p:spPr>
      </p:pic>
      <p:pic>
        <p:nvPicPr>
          <p:cNvPr id="10" name="Picture 9" descr="visual_element_slide_14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520" y="4967859"/>
            <a:ext cx="8818530" cy="1055179"/>
          </a:xfrm>
          <a:prstGeom prst="rect">
            <a:avLst/>
          </a:prstGeom>
        </p:spPr>
      </p:pic>
      <p:pic>
        <p:nvPicPr>
          <p:cNvPr id="11" name="Picture 10" descr="visual_element_slide_14_008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16971" y="5124450"/>
            <a:ext cx="6783419" cy="2211609"/>
          </a:xfrm>
          <a:prstGeom prst="rect">
            <a:avLst/>
          </a:prstGeom>
        </p:spPr>
      </p:pic>
      <p:pic>
        <p:nvPicPr>
          <p:cNvPr id="12" name="Picture 11" descr="visual_element_slide_14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520" y="6175438"/>
            <a:ext cx="8818530" cy="1055179"/>
          </a:xfrm>
          <a:prstGeom prst="rect">
            <a:avLst/>
          </a:prstGeom>
        </p:spPr>
      </p:pic>
      <p:pic>
        <p:nvPicPr>
          <p:cNvPr id="13" name="Picture 12" descr="visual_element_slide_14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520" y="7383113"/>
            <a:ext cx="8818530" cy="1055179"/>
          </a:xfrm>
          <a:prstGeom prst="rect">
            <a:avLst/>
          </a:prstGeom>
        </p:spPr>
      </p:pic>
      <p:pic>
        <p:nvPicPr>
          <p:cNvPr id="14" name="Picture 13" descr="visual_element_slide_14_00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6520" y="8590692"/>
            <a:ext cx="8818530" cy="1055179"/>
          </a:xfrm>
          <a:prstGeom prst="rect">
            <a:avLst/>
          </a:prstGeom>
        </p:spPr>
      </p:pic>
      <p:pic>
        <p:nvPicPr>
          <p:cNvPr id="15" name="Picture 14" descr="visual_element_slide_12_0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1296" y="2228850"/>
            <a:ext cx="361950" cy="361950"/>
          </a:xfrm>
          <a:prstGeom prst="rect">
            <a:avLst/>
          </a:prstGeom>
        </p:spPr>
      </p:pic>
      <p:pic>
        <p:nvPicPr>
          <p:cNvPr id="16" name="Picture 15" descr="visual_element_slide_12_0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06531" y="2714625"/>
            <a:ext cx="361950" cy="361950"/>
          </a:xfrm>
          <a:prstGeom prst="rect">
            <a:avLst/>
          </a:prstGeom>
        </p:spPr>
      </p:pic>
      <p:pic>
        <p:nvPicPr>
          <p:cNvPr id="17" name="Picture 16" descr="visual_element_slide_12_0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49476" y="3200400"/>
            <a:ext cx="361950" cy="361950"/>
          </a:xfrm>
          <a:prstGeom prst="rect">
            <a:avLst/>
          </a:prstGeom>
        </p:spPr>
      </p:pic>
      <p:pic>
        <p:nvPicPr>
          <p:cNvPr id="18" name="Picture 17" descr="visual_element_slide_12_0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1371" y="3686175"/>
            <a:ext cx="361950" cy="361950"/>
          </a:xfrm>
          <a:prstGeom prst="rect">
            <a:avLst/>
          </a:prstGeom>
        </p:spPr>
      </p:pic>
      <p:pic>
        <p:nvPicPr>
          <p:cNvPr id="19" name="Picture 18" descr="visual_element_slide_12_02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40796" y="4171950"/>
            <a:ext cx="361950" cy="3619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847850" y="323850"/>
            <a:ext cx="400050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QUALITATIVE METHOD —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737" y="595312"/>
            <a:ext cx="828675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000000"/>
                </a:solidFill>
                <a:latin typeface="Inter"/>
              </a:defRPr>
            </a:pPr>
            <a:r>
              <a:t>⚖️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850" y="571500"/>
            <a:ext cx="4476750" cy="733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B82F6"/>
                </a:solidFill>
                <a:latin typeface="Inter"/>
              </a:defRPr>
            </a:pPr>
            <a:r>
              <a:t>Direct Action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56905" y="1781175"/>
            <a:ext cx="27241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93C5FD"/>
                </a:solidFill>
                <a:latin typeface="Inter"/>
              </a:defRPr>
            </a:pPr>
            <a:r>
              <a:t>📈 Escalation Ladder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750" y="2095499"/>
            <a:ext cx="16954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93C5FD"/>
                </a:solidFill>
                <a:latin typeface="Inter"/>
              </a:defRPr>
            </a:pPr>
            <a:r>
              <a:t>📖 Definition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95018" y="2295525"/>
            <a:ext cx="46672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52205" y="2276475"/>
            <a:ext cx="430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Moral Suasion (Advice &amp; Persuasion)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02125" y="2281237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" y="2486025"/>
            <a:ext cx="26670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Direct Action is the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8750" y="2486025"/>
            <a:ext cx="8239124" cy="15208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0">
                <a:solidFill>
                  <a:srgbClr val="DCD2FF"/>
                </a:solidFill>
                <a:latin typeface="Inter"/>
              </a:defRPr>
            </a:pPr>
            <a:r>
              <a:t>qualitative credit control tool, used by the RBI when commercial banks fail to comply with its guidelines, directives, or policies. It involves direct punitive measures against non-compliant banks.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14750" y="2486025"/>
            <a:ext cx="3743325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C4B5FD"/>
                </a:solidFill>
                <a:latin typeface="Inter"/>
              </a:defRPr>
            </a:pPr>
            <a:r>
              <a:t>most coercive and powerful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5968" y="2781300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52205" y="2762250"/>
            <a:ext cx="3543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Written Warnings &amp; Directives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002125" y="2767012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75968" y="326707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52205" y="3248025"/>
            <a:ext cx="24955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Penal Interest Rates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002125" y="3252787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1205" y="3752850"/>
            <a:ext cx="5143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52205" y="3733799"/>
            <a:ext cx="30289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Refusal of Rediscounting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7002125" y="3738562"/>
            <a:ext cx="590550" cy="24764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rgbClr val="93C5FD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75968" y="4238625"/>
            <a:ext cx="50482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93C5FD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52205" y="4219575"/>
            <a:ext cx="36004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License Cancellation / Closure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525" y="4520184"/>
            <a:ext cx="3695700" cy="2952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950" b="1">
                <a:solidFill>
                  <a:srgbClr val="93C5FD"/>
                </a:solidFill>
                <a:latin typeface="Inter"/>
              </a:defRPr>
            </a:pPr>
            <a:r>
              <a:t>⚡ Forms of Direct Action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2550" y="5129783"/>
            <a:ext cx="7334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00000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57375" y="5167884"/>
            <a:ext cx="7896224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RBI refuses to rediscount bills of exchange or provide credit facilities to non-compliant banks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57375" y="5167884"/>
            <a:ext cx="29146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Refusal to Rediscount: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805" y="5343525"/>
            <a:ext cx="25241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CA5A5"/>
                </a:solidFill>
                <a:latin typeface="Inter"/>
              </a:defRPr>
            </a:pPr>
            <a:r>
              <a:t>⚠️ Last Resort Tool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18805" y="5753100"/>
            <a:ext cx="30670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Direct Action is used as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805" y="5753100"/>
            <a:ext cx="6162675" cy="13181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0">
                <a:solidFill>
                  <a:srgbClr val="D2C8FF"/>
                </a:solidFill>
                <a:latin typeface="Inter"/>
              </a:defRPr>
            </a:pPr>
            <a:r>
              <a:t>when all other methods fail. It is not used in isolation — it supplements other credit control measures and is invoked only when banks persistently violate RBI norms.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04855" y="5753100"/>
            <a:ext cx="143827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725" b="1">
                <a:solidFill>
                  <a:srgbClr val="FCA5A5"/>
                </a:solidFill>
                <a:latin typeface="Inter"/>
              </a:defRPr>
            </a:pPr>
            <a:r>
              <a:t>last resort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52550" y="6337363"/>
            <a:ext cx="7334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00000"/>
                </a:solidFill>
                <a:latin typeface="Inter"/>
              </a:defRPr>
            </a:pPr>
            <a:r>
              <a:t>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57375" y="6375463"/>
            <a:ext cx="8096249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RBI charges a penalty rate above the Bank Rate for credit demanded beyond prescribed limits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57375" y="6375463"/>
            <a:ext cx="25622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Penal Interest Rate: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52550" y="7545038"/>
            <a:ext cx="7334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00000"/>
                </a:solidFill>
                <a:latin typeface="Inter"/>
              </a:defRPr>
            </a:pPr>
            <a:r>
              <a:t>📋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57375" y="7583138"/>
            <a:ext cx="7820025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RBI restricts or withdraws credit facilities from banks violating norms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57375" y="7583138"/>
            <a:ext cx="2724150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Restriction of Credit: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52550" y="8752617"/>
            <a:ext cx="7334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 sz="2250" b="0">
                <a:solidFill>
                  <a:srgbClr val="000000"/>
                </a:solidFill>
                <a:latin typeface="Inter"/>
              </a:defRPr>
            </a:pPr>
            <a:r>
              <a:t>🔒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57375" y="8790717"/>
            <a:ext cx="7696199" cy="64188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D2C8FF"/>
                </a:solidFill>
                <a:latin typeface="Inter"/>
              </a:defRPr>
            </a:pPr>
            <a:r>
              <a:t>In extreme cases, RBI can cancel a bank's license or order its closure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7375" y="8790717"/>
            <a:ext cx="3095625" cy="2762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B5FD"/>
                </a:solidFill>
                <a:latin typeface="Inter"/>
              </a:defRPr>
            </a:pPr>
            <a:r>
              <a:t>Cancellation of License: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